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Botswana has 81.4% internet penetration and 2.9M mobile subscribers, yet insurance penetration is only 3.3% of GDP. Devices cost up to 4x the monthly wage with no affordable all-inclusive protection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Device Shield solves the problem through three pillars: physical protection, cybersecurity, and IT support — all in one digital subscription starting at P50/month.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tiers from P50–P280/month. Shield Standard (P120) is our flagship product expected to drive highest volume. All plans via mobile money — zero friction signup.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TAM P3.3B, SAM P496M, SOM P14.4M by Year 3. Three core segments: students, families, and SMEs.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Business Model Canvas as documented in the Hexacore Solutions business plan.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Total monthly marketing spend under P7,000. Break-even by Month 4. National expansion to Francistown and Maun in Year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competitor in Botswana bundles physical protection, cybersecurity, and IT support in a single subscription. We close all three gaps simultaneously.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Exact 3-month cash flow projection from the Hexacore Solutions business plan. Total funding P200K (P150K CEDA + P50K founders). Break-even reached at Month 4 with ~263 active subscribers.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seek P200K: P150K CEDA loan + P50K founder equity. Break-even Month 4. P14.4M revenue by Year 3. Thank you — we welcome your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" name="Text 2"/>
          <p:cNvSpPr/>
          <p:nvPr/>
        </p:nvSpPr>
        <p:spPr>
          <a:xfrm>
            <a:off x="347472" y="274320"/>
            <a:ext cx="3520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HEXACORE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47472" y="859536"/>
            <a:ext cx="3520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SOLUTIONS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347472" y="1417320"/>
            <a:ext cx="352044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47472" y="1508760"/>
            <a:ext cx="3520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47472" y="1883664"/>
            <a:ext cx="3520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Device. Protect Your Life.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472" y="2304288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Botswana's first subscription-based platform combining physical device insurance, cybersecurity tools and IT support — built for 2.9M mobile subscribers.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7472" y="3200400"/>
            <a:ext cx="3520440" cy="13533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255264"/>
            <a:ext cx="33101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3502152"/>
            <a:ext cx="331012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Botswana's most trusted provider of device protection and digital security services, safeguarding the digital infrastructure of every household, student and SME by 2036.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0" y="274320"/>
            <a:ext cx="4251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FOUNDING TEAM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512064"/>
            <a:ext cx="42519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Shape 13"/>
          <p:cNvSpPr/>
          <p:nvPr/>
        </p:nvSpPr>
        <p:spPr>
          <a:xfrm>
            <a:off x="4572000" y="640080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Shape 14"/>
          <p:cNvSpPr/>
          <p:nvPr/>
        </p:nvSpPr>
        <p:spPr>
          <a:xfrm>
            <a:off x="4572000" y="640080"/>
            <a:ext cx="64008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4736592" y="67665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Kaelo Kealeboga Selome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736592" y="9509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Executive Officer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83880" y="71323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0" y="1353312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1" name="Shape 19"/>
          <p:cNvSpPr/>
          <p:nvPr/>
        </p:nvSpPr>
        <p:spPr>
          <a:xfrm>
            <a:off x="4572000" y="1353312"/>
            <a:ext cx="64008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2" name="Text 20"/>
          <p:cNvSpPr/>
          <p:nvPr/>
        </p:nvSpPr>
        <p:spPr>
          <a:xfrm>
            <a:off x="4736592" y="138988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Kitsiso Keaitse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736592" y="166420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Marketing Officer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183880" y="1426464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0" y="2066544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0" y="2066544"/>
            <a:ext cx="64008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4736592" y="21031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Katlo Tutwane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736592" y="237744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Financial Officer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183880" y="2139696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572000" y="2779776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1" name="Shape 29"/>
          <p:cNvSpPr/>
          <p:nvPr/>
        </p:nvSpPr>
        <p:spPr>
          <a:xfrm>
            <a:off x="4572000" y="2779776"/>
            <a:ext cx="64008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4736592" y="281635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Larona Mothame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4736592" y="309067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Chief Technical Officer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183880" y="2852928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4572000" y="3493008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6" name="Shape 34"/>
          <p:cNvSpPr/>
          <p:nvPr/>
        </p:nvSpPr>
        <p:spPr>
          <a:xfrm>
            <a:off x="4572000" y="3493008"/>
            <a:ext cx="64008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7" name="Text 35"/>
          <p:cNvSpPr/>
          <p:nvPr/>
        </p:nvSpPr>
        <p:spPr>
          <a:xfrm>
            <a:off x="4736592" y="3529584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George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4736592" y="380390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Co-Chief Technical Officer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8183880" y="3566160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15%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4572000" y="4206240"/>
            <a:ext cx="425196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1" name="Shape 39"/>
          <p:cNvSpPr/>
          <p:nvPr/>
        </p:nvSpPr>
        <p:spPr>
          <a:xfrm>
            <a:off x="4572000" y="4206240"/>
            <a:ext cx="64008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42" name="Text 40"/>
          <p:cNvSpPr/>
          <p:nvPr/>
        </p:nvSpPr>
        <p:spPr>
          <a:xfrm>
            <a:off x="4736592" y="4242816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Bianca Kedukaetswe</a:t>
            </a:r>
            <a:endParaRPr lang="en-US" sz="1150" dirty="0"/>
          </a:p>
        </p:txBody>
      </p:sp>
      <p:sp>
        <p:nvSpPr>
          <p:cNvPr id="43" name="Text 41"/>
          <p:cNvSpPr/>
          <p:nvPr/>
        </p:nvSpPr>
        <p:spPr>
          <a:xfrm>
            <a:off x="4736592" y="451713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Client Support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8183880" y="4279392"/>
            <a:ext cx="594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10%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4572000" y="4828032"/>
            <a:ext cx="4251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Gaborone, Botswana  |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81.4%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365760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Penetration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(DataReportal, 2026)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487168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0" name="Shape 8"/>
          <p:cNvSpPr/>
          <p:nvPr/>
        </p:nvSpPr>
        <p:spPr>
          <a:xfrm>
            <a:off x="2487168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1" name="Text 9"/>
          <p:cNvSpPr/>
          <p:nvPr/>
        </p:nvSpPr>
        <p:spPr>
          <a:xfrm>
            <a:off x="2487168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2.9M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487168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Subscribers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Botswana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608576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4" name="Shape 12"/>
          <p:cNvSpPr/>
          <p:nvPr/>
        </p:nvSpPr>
        <p:spPr>
          <a:xfrm>
            <a:off x="4608576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5" name="Text 13"/>
          <p:cNvSpPr/>
          <p:nvPr/>
        </p:nvSpPr>
        <p:spPr>
          <a:xfrm>
            <a:off x="4608576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3.3%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608576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of GDP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729984" y="932688"/>
            <a:ext cx="1993392" cy="96012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8" name="Shape 16"/>
          <p:cNvSpPr/>
          <p:nvPr/>
        </p:nvSpPr>
        <p:spPr>
          <a:xfrm>
            <a:off x="6729984" y="932688"/>
            <a:ext cx="1993392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9" name="Text 17"/>
          <p:cNvSpPr/>
          <p:nvPr/>
        </p:nvSpPr>
        <p:spPr>
          <a:xfrm>
            <a:off x="6729984" y="1005840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P30K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729984" y="1481328"/>
            <a:ext cx="1993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Device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" y="2103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GAP IS CRITICAL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65760" y="2322576"/>
            <a:ext cx="8503920" cy="2560320"/>
          </a:xfrm>
          <a:prstGeom prst="rect">
            <a:avLst/>
          </a:prstGeom>
          <a:noFill/>
          <a:ln/>
        </p:spPr>
        <p:txBody>
          <a:bodyPr wrap="square" lIns="0" tIns="1016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device owners in Botswana have ZERO financial protection against theft, damage or loss.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Flagship devices cost up to P30,000 — multiples of the average monthly wage of P7,462.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insurance products exclude theft &amp; loss, rely on offline processes, or are priced in USD.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insurance penetration (3.3% of GDP) despite 81.4% internet penetration — a structural gap.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OUR SOLUTION — DEVICE SHIELD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41248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subscription. Total protection.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365760" y="1225296"/>
            <a:ext cx="8503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 by Hexacore Solutions is a subscription-based digital platform delivering affordable device protection combining physical insurance, cybersecurity tools and IT support — powered by a digital platform built for Botswana's population.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975104"/>
            <a:ext cx="2788920" cy="2926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8" name="Shape 6"/>
          <p:cNvSpPr/>
          <p:nvPr/>
        </p:nvSpPr>
        <p:spPr>
          <a:xfrm>
            <a:off x="365760" y="1975104"/>
            <a:ext cx="278892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Protection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2395728"/>
            <a:ext cx="2514600" cy="0"/>
          </a:xfrm>
          <a:prstGeom prst="line">
            <a:avLst/>
          </a:prstGeom>
          <a:noFill/>
          <a:ln w="6350">
            <a:solidFill>
              <a:srgbClr val="0D1B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repair &amp; replacement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2990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&amp; loss cover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4930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BIHL-underwritten (NBFIRA licensed)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activation waiting period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91840" y="1975104"/>
            <a:ext cx="2788920" cy="2926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1975104"/>
            <a:ext cx="278892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3429000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Cybersecurity Tools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429000" y="2395728"/>
            <a:ext cx="2514600" cy="0"/>
          </a:xfrm>
          <a:prstGeom prst="line">
            <a:avLst/>
          </a:prstGeom>
          <a:noFill/>
          <a:ln w="6350">
            <a:solidFill>
              <a:srgbClr val="0D1B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Anti-malware protection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29000" y="2990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access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29000" y="34930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device wipe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42900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backup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17920" y="1975104"/>
            <a:ext cx="2788920" cy="292608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4" name="Shape 22"/>
          <p:cNvSpPr/>
          <p:nvPr/>
        </p:nvSpPr>
        <p:spPr>
          <a:xfrm>
            <a:off x="6217920" y="1975104"/>
            <a:ext cx="2788920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6355080" y="2029968"/>
            <a:ext cx="2514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55080" y="2395728"/>
            <a:ext cx="2514600" cy="0"/>
          </a:xfrm>
          <a:prstGeom prst="line">
            <a:avLst/>
          </a:prstGeom>
          <a:noFill/>
          <a:ln w="6350">
            <a:solidFill>
              <a:srgbClr val="0D1B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55080" y="248716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4-hour response turnaround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55080" y="299008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account manager (Business)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55080" y="349300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via app or branch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995928"/>
            <a:ext cx="2560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IMEI/serial registration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PRODUCT &amp; SERVICE TIERS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Shape 3"/>
          <p:cNvSpPr/>
          <p:nvPr/>
        </p:nvSpPr>
        <p:spPr>
          <a:xfrm>
            <a:off x="256032" y="932688"/>
            <a:ext cx="2057400" cy="4023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96926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BASIC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65760" y="13350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P50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1737360" y="144475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9019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65760" y="2194560"/>
            <a:ext cx="1837944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286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repair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268833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registration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65760" y="309067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IMEI tracking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432304" y="932688"/>
            <a:ext cx="2057400" cy="402336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5" name="Shape 13"/>
          <p:cNvSpPr/>
          <p:nvPr/>
        </p:nvSpPr>
        <p:spPr>
          <a:xfrm>
            <a:off x="2432304" y="932688"/>
            <a:ext cx="2057400" cy="2743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6" name="Text 14"/>
          <p:cNvSpPr/>
          <p:nvPr/>
        </p:nvSpPr>
        <p:spPr>
          <a:xfrm>
            <a:off x="2432304" y="932688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2542032" y="124358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STANDARD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2542032" y="160934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P120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3913632" y="171907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542032" y="217627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Young Professionals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542032" y="2468880"/>
            <a:ext cx="1837944" cy="0"/>
          </a:xfrm>
          <a:prstGeom prst="line">
            <a:avLst/>
          </a:prstGeom>
          <a:noFill/>
          <a:ln w="6350">
            <a:solidFill>
              <a:srgbClr val="16203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42032" y="256032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Basic features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2542032" y="296265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Theft coverage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542032" y="336499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Anti-malware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542032" y="376732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4-hr IT support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08576" y="932688"/>
            <a:ext cx="2057400" cy="4023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18304" y="96926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PREMIUM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718304" y="13350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P200</a:t>
            </a:r>
            <a:endParaRPr lang="en-US" sz="3000" dirty="0"/>
          </a:p>
        </p:txBody>
      </p:sp>
      <p:sp>
        <p:nvSpPr>
          <p:cNvPr id="29" name="Text 27"/>
          <p:cNvSpPr/>
          <p:nvPr/>
        </p:nvSpPr>
        <p:spPr>
          <a:xfrm>
            <a:off x="6089904" y="144475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18304" y="19019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Users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18304" y="2194560"/>
            <a:ext cx="1837944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18304" y="2286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Standard features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718304" y="268833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VPN + cloud backup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718304" y="309067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Remote wipe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718304" y="34930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Laptop coverage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6784848" y="932688"/>
            <a:ext cx="2057400" cy="4023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6894576" y="969264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SHIELD BUSINESS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94576" y="1335024"/>
            <a:ext cx="1371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P280</a:t>
            </a:r>
            <a:endParaRPr lang="en-US" sz="3000" dirty="0"/>
          </a:p>
        </p:txBody>
      </p:sp>
      <p:sp>
        <p:nvSpPr>
          <p:cNvPr id="39" name="Text 37"/>
          <p:cNvSpPr/>
          <p:nvPr/>
        </p:nvSpPr>
        <p:spPr>
          <a:xfrm>
            <a:off x="8266176" y="1444752"/>
            <a:ext cx="466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94576" y="1901952"/>
            <a:ext cx="18379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SMEs (5 devices)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894576" y="2194560"/>
            <a:ext cx="1837944" cy="0"/>
          </a:xfrm>
          <a:prstGeom prst="line">
            <a:avLst/>
          </a:prstGeom>
          <a:noFill/>
          <a:ln w="6350">
            <a:solidFill>
              <a:srgbClr val="D0D4D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894576" y="2286000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Premium features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894576" y="2688336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5-device cover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894576" y="3090672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manager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6894576" y="3493008"/>
            <a:ext cx="18379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IT audit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SIZING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78992"/>
            <a:ext cx="8503920" cy="621792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133856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— Total Addressable Market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1389888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2.9M mobile subscribers across Botswana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0" y="1152144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P3.3B / yr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" y="1792224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2" name="Shape 10"/>
          <p:cNvSpPr/>
          <p:nvPr/>
        </p:nvSpPr>
        <p:spPr>
          <a:xfrm>
            <a:off x="365760" y="1792224"/>
            <a:ext cx="4677156" cy="621792"/>
          </a:xfrm>
          <a:prstGeom prst="rect">
            <a:avLst/>
          </a:prstGeom>
          <a:solidFill>
            <a:srgbClr val="1A4A7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8470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— Serviceable Addressable Market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02920" y="2103120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~435K urban smartphone users (Gaborone / Francistown / Maun)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7315200" y="1865376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P496M / yr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65760" y="2505456"/>
            <a:ext cx="8503920" cy="62179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7" name="Shape 15"/>
          <p:cNvSpPr/>
          <p:nvPr/>
        </p:nvSpPr>
        <p:spPr>
          <a:xfrm>
            <a:off x="365760" y="2505456"/>
            <a:ext cx="2125980" cy="62179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5603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— Serviceable Obtainable Market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2816352"/>
            <a:ext cx="4937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20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subscribers by Year 3 — conservative target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7315200" y="2578608"/>
            <a:ext cx="14173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P14.4M / yr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365760" y="32735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SEGMENTS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65760" y="3456432"/>
            <a:ext cx="2779776" cy="148132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3" name="Shape 21"/>
          <p:cNvSpPr/>
          <p:nvPr/>
        </p:nvSpPr>
        <p:spPr>
          <a:xfrm>
            <a:off x="365760" y="3456432"/>
            <a:ext cx="2779776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4" name="Text 22"/>
          <p:cNvSpPr/>
          <p:nvPr/>
        </p:nvSpPr>
        <p:spPr>
          <a:xfrm>
            <a:off x="493776" y="35112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&amp; Young Professionals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" y="38587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18-35  |  UB, BIUST, BCA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 |  Cannot afford replacement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digital literacy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73552" y="3456432"/>
            <a:ext cx="2779776" cy="148132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7" name="Shape 25"/>
          <p:cNvSpPr/>
          <p:nvPr/>
        </p:nvSpPr>
        <p:spPr>
          <a:xfrm>
            <a:off x="3273552" y="3456432"/>
            <a:ext cx="2779776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8" name="Text 26"/>
          <p:cNvSpPr/>
          <p:nvPr/>
        </p:nvSpPr>
        <p:spPr>
          <a:xfrm>
            <a:off x="3401568" y="35112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Families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401568" y="38587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Ages 30-50  |  2-4 devices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Risk-aware  |  Need simple claims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Middle income, urban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81344" y="3456432"/>
            <a:ext cx="2779776" cy="1481328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1" name="Shape 29"/>
          <p:cNvSpPr/>
          <p:nvPr/>
        </p:nvSpPr>
        <p:spPr>
          <a:xfrm>
            <a:off x="6181344" y="3456432"/>
            <a:ext cx="2779776" cy="4572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2" name="Text 30"/>
          <p:cNvSpPr/>
          <p:nvPr/>
        </p:nvSpPr>
        <p:spPr>
          <a:xfrm>
            <a:off x="6309360" y="3511296"/>
            <a:ext cx="25237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Businesses (SMEs)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309360" y="3858768"/>
            <a:ext cx="252374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1-20 employees  |  Device-dependent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IT budget  |  Downtime = lost revenue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&amp; services sector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MODEL CANVAS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841248"/>
            <a:ext cx="8595360" cy="413308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 &amp; GROWTH STRATEGY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ACQUISITION CHANNELS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365760" y="1078992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078992"/>
            <a:ext cx="534924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1078992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Facebook &amp; Instagram Ads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337560" y="1078992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P2,500/mo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53712" y="1078992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80–120 leads/mo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1700784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700784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Business API Broadcasts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3337560" y="1700784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P800/mo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53712" y="1700784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30–50 conv/mo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322576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16" name="Text 14"/>
          <p:cNvSpPr/>
          <p:nvPr/>
        </p:nvSpPr>
        <p:spPr>
          <a:xfrm>
            <a:off x="502920" y="2322576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Activations (UB/BIUST/BCA)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2322576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P1,500/event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53712" y="2322576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50–80 sign-ups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2944368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0" name="Text 18"/>
          <p:cNvSpPr/>
          <p:nvPr/>
        </p:nvSpPr>
        <p:spPr>
          <a:xfrm>
            <a:off x="502920" y="2944368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Search Ads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3337560" y="2944368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P1,200/mo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53712" y="2944368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20–30 leads/mo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566160"/>
            <a:ext cx="53492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" y="3566160"/>
            <a:ext cx="2834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BOCCIM / CEDA Trade Fairs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337560" y="3566160"/>
            <a:ext cx="1188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P1,500/qtr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53712" y="3566160"/>
            <a:ext cx="10972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pipeline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98932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MILESTONES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5989320" y="1078992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29" name="Shape 27"/>
          <p:cNvSpPr/>
          <p:nvPr/>
        </p:nvSpPr>
        <p:spPr>
          <a:xfrm>
            <a:off x="5989320" y="1078992"/>
            <a:ext cx="731520" cy="53035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0" name="Text 28"/>
          <p:cNvSpPr/>
          <p:nvPr/>
        </p:nvSpPr>
        <p:spPr>
          <a:xfrm>
            <a:off x="5989320" y="1078992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Y1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784848" y="1078992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launch — iOS &amp; Android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989320" y="1700784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3" name="Shape 31"/>
          <p:cNvSpPr/>
          <p:nvPr/>
        </p:nvSpPr>
        <p:spPr>
          <a:xfrm>
            <a:off x="5989320" y="1700784"/>
            <a:ext cx="731520" cy="530352"/>
          </a:xfrm>
          <a:prstGeom prst="rect">
            <a:avLst/>
          </a:prstGeom>
          <a:solidFill>
            <a:srgbClr val="1A7A4A"/>
          </a:solidFill>
          <a:ln/>
        </p:spPr>
      </p:sp>
      <p:sp>
        <p:nvSpPr>
          <p:cNvPr id="34" name="Text 32"/>
          <p:cNvSpPr/>
          <p:nvPr/>
        </p:nvSpPr>
        <p:spPr>
          <a:xfrm>
            <a:off x="5989320" y="1700784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Mth 4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6784848" y="1700784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Break-even  (~263 active subscribers)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989320" y="2322576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37" name="Shape 35"/>
          <p:cNvSpPr/>
          <p:nvPr/>
        </p:nvSpPr>
        <p:spPr>
          <a:xfrm>
            <a:off x="5989320" y="2322576"/>
            <a:ext cx="731520" cy="530352"/>
          </a:xfrm>
          <a:prstGeom prst="rect">
            <a:avLst/>
          </a:prstGeom>
          <a:solidFill>
            <a:srgbClr val="1E5C9E"/>
          </a:solidFill>
          <a:ln/>
        </p:spPr>
      </p:sp>
      <p:sp>
        <p:nvSpPr>
          <p:cNvPr id="38" name="Text 36"/>
          <p:cNvSpPr/>
          <p:nvPr/>
        </p:nvSpPr>
        <p:spPr>
          <a:xfrm>
            <a:off x="5989320" y="2322576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784848" y="2322576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subscribers  |  P1.14M revenue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989320" y="2944368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1" name="Shape 39"/>
          <p:cNvSpPr/>
          <p:nvPr/>
        </p:nvSpPr>
        <p:spPr>
          <a:xfrm>
            <a:off x="5989320" y="2944368"/>
            <a:ext cx="731520" cy="530352"/>
          </a:xfrm>
          <a:prstGeom prst="rect">
            <a:avLst/>
          </a:prstGeom>
          <a:solidFill>
            <a:srgbClr val="5A4A8A"/>
          </a:solidFill>
          <a:ln/>
        </p:spPr>
      </p:sp>
      <p:sp>
        <p:nvSpPr>
          <p:cNvPr id="42" name="Text 40"/>
          <p:cNvSpPr/>
          <p:nvPr/>
        </p:nvSpPr>
        <p:spPr>
          <a:xfrm>
            <a:off x="5989320" y="2944368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Y2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784848" y="2944368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Expand: Francistown &amp; Maun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89320" y="3566160"/>
            <a:ext cx="2834640" cy="530352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5" name="Shape 43"/>
          <p:cNvSpPr/>
          <p:nvPr/>
        </p:nvSpPr>
        <p:spPr>
          <a:xfrm>
            <a:off x="5989320" y="3566160"/>
            <a:ext cx="731520" cy="530352"/>
          </a:xfrm>
          <a:prstGeom prst="rect">
            <a:avLst/>
          </a:prstGeom>
          <a:solidFill>
            <a:srgbClr val="2A6A5A"/>
          </a:solidFill>
          <a:ln/>
        </p:spPr>
      </p:sp>
      <p:sp>
        <p:nvSpPr>
          <p:cNvPr id="46" name="Text 44"/>
          <p:cNvSpPr/>
          <p:nvPr/>
        </p:nvSpPr>
        <p:spPr>
          <a:xfrm>
            <a:off x="5989320" y="3566160"/>
            <a:ext cx="7315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Y3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6784848" y="3566160"/>
            <a:ext cx="19659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subscribers  |  P14.4M/yr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COMPETITIVE ADVANTAGE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COMPARE</a:t>
            </a:r>
            <a:endParaRPr lang="en-US" sz="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078992"/>
          <a:ext cx="850392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1536192"/>
                <a:gridCol w="1536192"/>
                <a:gridCol w="1536192"/>
                <a:gridCol w="1517904"/>
              </a:tblGrid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Device Shield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A8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Alpha Direct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Repair Shops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AppleCare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Physical Repair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Theft &amp; Loss Cover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Cybersecurity / VPN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Support Included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Claims (App/Web)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BWP Pricing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NBFIRA Compliant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3D2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4ADE8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F8717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7490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Entry Price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P50/mo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D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P49/mo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 repair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0D4D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USD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1E2D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65760" y="4206240"/>
            <a:ext cx="8503920" cy="43891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8" name="Text 5"/>
          <p:cNvSpPr/>
          <p:nvPr/>
        </p:nvSpPr>
        <p:spPr>
          <a:xfrm>
            <a:off x="502920" y="420624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 is the ONLY platform in Botswana combining physical protection + cybersecurity + IT support in ONE subscription.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0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201168"/>
            <a:ext cx="8503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200" kern="0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FINANCIAL HIGHLIGHTS — 3-MONTH CASH FLOW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676656"/>
            <a:ext cx="8503920" cy="36576"/>
          </a:xfrm>
          <a:prstGeom prst="rect">
            <a:avLst/>
          </a:prstGeom>
          <a:solidFill>
            <a:srgbClr val="C9A84C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" y="868680"/>
          <a:ext cx="8732520" cy="914400"/>
        </p:xfrm>
        <a:graphic>
          <a:graphicData uri="http://schemas.openxmlformats.org/drawingml/2006/table">
            <a:tbl>
              <a:tblPr/>
              <a:tblGrid>
                <a:gridCol w="2606040"/>
                <a:gridCol w="1536192"/>
                <a:gridCol w="1536192"/>
                <a:gridCol w="1536192"/>
                <a:gridCol w="1517904"/>
              </a:tblGrid>
              <a:tr h="15087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1 (BWP)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2 (BWP)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 3 (BWP)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C9A84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(BWP)</a:t>
                      </a:r>
                      <a:endParaRPr lang="en-US" sz="8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15087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A — CASH INFLOWS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CEDA Loan Drawdown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150,000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150,000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Capital Contributions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50,000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50,000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Subscription Revenue (P95/sub)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7,600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17,100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30,400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55,100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 Subscribers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580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CASH INFLOWS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207,600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17,100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30,400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255,100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</a:tr>
              <a:tr h="15087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B — ONE-TIME STARTUP COSTS (Month 1 Only)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Development — MVP (negotiated)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55,000)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55,000)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Setup (Equipment &amp; Furniture)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18,000)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18,000)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NBFIRA / Legal / Compliance Fees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12,000)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12,000)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Branding, Website &amp; Domain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5,000)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5,000)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CIPA Registration &amp; Company Docs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2,500)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2,500)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Launch Marketing Campaign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8,000)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8,000)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ONE-TIME COSTS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100,500)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100,500)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</a:tr>
              <a:tr h="15087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C — MONTHLY OPERATING EXPENSES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Office Lease (shared/co-working)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10,500)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Electricity &amp; Water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800)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800)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800)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2,400)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Internet (Business Fibre)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AWS / Cloud Hosting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1,500)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2,000)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5,000)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 Marketing (Social + Google)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3,800)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3,800)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3,800)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11,400)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Claims Cost (30% of Rev)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2,280)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5,130)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9,120)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16,530)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Loan Interest (P150k @ 7.5% p.a.)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938)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938)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938)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2,814)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Founder Stipends ×6 (Month 3 only)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12,000)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12,000)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MONTHLY OPEX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16,118)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18,968)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34,458)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69,544)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</a:tr>
              <a:tr h="150876"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E8C9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SECTION D — NET CASH POSITION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5"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4"/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Opening Cash Balance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90,982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89,114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Movement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90,982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1,868)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(P 4,058)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7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85,056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0F5"/>
                    </a:solidFill>
                  </a:tcPr>
                </a:tc>
              </a:tr>
              <a:tr h="1508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CLOSING CASH BALANCE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90,982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89,114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85,056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85,056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0C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16203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27432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INVESTMENT</a:t>
            </a:r>
            <a:endParaRPr lang="en-US" sz="3400" dirty="0"/>
          </a:p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ASK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274320" y="1371600"/>
            <a:ext cx="35661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463040"/>
            <a:ext cx="3566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P200,000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274320" y="2231136"/>
            <a:ext cx="356616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9" name="Text 7"/>
          <p:cNvSpPr/>
          <p:nvPr/>
        </p:nvSpPr>
        <p:spPr>
          <a:xfrm>
            <a:off x="402336" y="223113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P150,000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99616" y="2231136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CEDA Development Loan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274320" y="2761488"/>
            <a:ext cx="3566160" cy="438912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2" name="Text 10"/>
          <p:cNvSpPr/>
          <p:nvPr/>
        </p:nvSpPr>
        <p:spPr>
          <a:xfrm>
            <a:off x="402336" y="276148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84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P50,000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499616" y="2761488"/>
            <a:ext cx="22128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Equity Contribution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74320" y="33649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Covers: App Dev  |  Legal  |  Office Setup  |  Launch Marketing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274320" y="4251960"/>
            <a:ext cx="356616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4251960"/>
            <a:ext cx="35661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17" name="Text 15"/>
          <p:cNvSpPr/>
          <p:nvPr/>
        </p:nvSpPr>
        <p:spPr>
          <a:xfrm>
            <a:off x="402336" y="4279392"/>
            <a:ext cx="334670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Hexacore@org.co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+267 79 221 214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8A94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 54351 Unit 4, Fairgrounds Office Park, Gaborone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389120" y="274320"/>
            <a:ext cx="44805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VISION BY 2036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89120" y="512064"/>
            <a:ext cx="4480560" cy="36576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0" y="585216"/>
            <a:ext cx="44805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Botswana's most trusted provider of device protection and digital security services — safeguarding the digital infrastructure of every household, student and SME by 2036.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389120" y="151790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400" kern="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INVESTMENT ACHIEVES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389120" y="1737360"/>
            <a:ext cx="237744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3" name="Text 21"/>
          <p:cNvSpPr/>
          <p:nvPr/>
        </p:nvSpPr>
        <p:spPr>
          <a:xfrm>
            <a:off x="4700016" y="1737360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1,200 subscribers and P1.14M revenue by end of Year 1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89120" y="2249424"/>
            <a:ext cx="237744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5" name="Text 23"/>
          <p:cNvSpPr/>
          <p:nvPr/>
        </p:nvSpPr>
        <p:spPr>
          <a:xfrm>
            <a:off x="4700016" y="2249424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expansion to Francistown &amp; Maun in Year 2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389120" y="2761488"/>
            <a:ext cx="237744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7" name="Text 25"/>
          <p:cNvSpPr/>
          <p:nvPr/>
        </p:nvSpPr>
        <p:spPr>
          <a:xfrm>
            <a:off x="4700016" y="2761488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subscribers and P14.4M revenue by Year 3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389120" y="3273552"/>
            <a:ext cx="237744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29" name="Text 27"/>
          <p:cNvSpPr/>
          <p:nvPr/>
        </p:nvSpPr>
        <p:spPr>
          <a:xfrm>
            <a:off x="4700016" y="3273552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27001 &amp; full NBFIRA certification by Year 2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89120" y="3785616"/>
            <a:ext cx="237744" cy="347472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1" name="Text 29"/>
          <p:cNvSpPr/>
          <p:nvPr/>
        </p:nvSpPr>
        <p:spPr>
          <a:xfrm>
            <a:off x="4700016" y="3785616"/>
            <a:ext cx="4169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0D4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full-time jobs created in Gaborone's ICT sector by Year 3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89120" y="4315968"/>
            <a:ext cx="4480560" cy="640080"/>
          </a:xfrm>
          <a:prstGeom prst="rect">
            <a:avLst/>
          </a:prstGeom>
          <a:solidFill>
            <a:srgbClr val="C9A84C"/>
          </a:solidFill>
          <a:ln/>
        </p:spPr>
      </p:sp>
      <p:sp>
        <p:nvSpPr>
          <p:cNvPr id="33" name="Text 31"/>
          <p:cNvSpPr/>
          <p:nvPr/>
        </p:nvSpPr>
        <p:spPr>
          <a:xfrm>
            <a:off x="4526280" y="4315968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Botswana's digital future needs protection.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Device Shield is how we deliver it.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Hexacore Solutions — Device Shield Pitch Deck</dc:title>
  <dc:subject>PptxGenJS Presentation</dc:subject>
  <dc:creator>PptxGenJS</dc:creator>
  <cp:lastModifiedBy>PptxGenJS</cp:lastModifiedBy>
  <cp:revision>1</cp:revision>
  <dcterms:created xsi:type="dcterms:W3CDTF">2026-05-27T09:32:15Z</dcterms:created>
  <dcterms:modified xsi:type="dcterms:W3CDTF">2026-05-27T09:32:15Z</dcterms:modified>
</cp:coreProperties>
</file>