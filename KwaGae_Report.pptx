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pic>
        <p:nvPicPr>
          <p:cNvPr id="3" name="Image 0" descr="/sessions/relaxed-great-heisenberg/mnt/KwaGae2/app/build/intermediates/assets/debug/mergeDebugAssets/listings/house1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2C1A0E">
              <a:alpha val="60000"/>
            </a:srgbClr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0" y="457200"/>
            <a:ext cx="45720" cy="4206240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pic>
        <p:nvPicPr>
          <p:cNvPr id="6" name="Image 1" descr="/sessions/relaxed-great-heisenberg/mnt/outputs/ic_laun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5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KwaGae</a:t>
            </a:r>
            <a:endParaRPr lang="en-US" sz="5600" dirty="0"/>
          </a:p>
        </p:txBody>
      </p:sp>
      <p:sp>
        <p:nvSpPr>
          <p:cNvPr id="8" name="Shape 4"/>
          <p:cNvSpPr/>
          <p:nvPr/>
        </p:nvSpPr>
        <p:spPr>
          <a:xfrm>
            <a:off x="457200" y="2487168"/>
            <a:ext cx="2286000" cy="45720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 Student Housing Platform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3154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 across Gaborone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verified, affordable accommodation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trusted property hosts.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3776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6B3A"/>
                </a:solidFill>
              </a:rPr>
              <a:t>208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93776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Available Listings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5508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6B3A"/>
                </a:solidFill>
              </a:rPr>
              <a:t>17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635508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Areas Covered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77240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6B3A"/>
                </a:solidFill>
              </a:rPr>
              <a:t>5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777240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Property Hosts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3474720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 UB, Botho, Limkokwing and other Gaborone universities struggle to find safe, affordable off-campus housing. Traditional methods — word of mouth, Facebook groups, paper notices — are fragmented, unverified and unsafe.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KwaGae is a mobile-first marketplace that verifies student identities via student numbers and connects them with property hosts offering houses, apartments, studios, bachelor flats, bedsitters and shared rooms.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50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Homeseeker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167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&amp; filter 208+ listings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directly with landlords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 deposit &amp; reserve online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ID verification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97480"/>
            <a:ext cx="4114800" cy="34747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Property Host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099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&amp; manage listings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Toggle availability in real-time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&amp; respond to enquiries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867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reservations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590288"/>
            <a:ext cx="9144000" cy="54864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81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4681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(Kotlin)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90672" y="4681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26864" y="4681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(Room)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4681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PesaPal Payments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99248" y="4681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UI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Design &amp; User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4069080"/>
          </a:xfrm>
          <a:prstGeom prst="roundRect">
            <a:avLst>
              <a:gd name="adj" fmla="val 818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978408"/>
            <a:ext cx="18836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978408"/>
            <a:ext cx="1883664" cy="29260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Kwagae  ·  STUDENT HOUSING FINDER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3911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student@example.com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65760" y="2715768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340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182880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410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account?  Register here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65760" y="3758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B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 OR ───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65760" y="4105656"/>
            <a:ext cx="1828800" cy="2560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15568" y="4846320"/>
            <a:ext cx="329184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Login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868680"/>
            <a:ext cx="2011680" cy="4069080"/>
          </a:xfrm>
          <a:prstGeom prst="roundRect">
            <a:avLst>
              <a:gd name="adj" fmla="val 818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978408"/>
            <a:ext cx="18836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4328" y="978408"/>
            <a:ext cx="1883664" cy="29260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0048" y="1005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 ·  Join Kwagae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51760" y="1325880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13441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651760" y="1673352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16916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651760" y="2020824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88336" y="203911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651760" y="2368296"/>
            <a:ext cx="1828800" cy="256032"/>
          </a:xfrm>
          <a:prstGeom prst="rect">
            <a:avLst/>
          </a:prstGeom>
          <a:solidFill>
            <a:srgbClr val="F5EDE0"/>
          </a:solidFill>
          <a:ln w="6350">
            <a:solidFill>
              <a:srgbClr val="D4C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238658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PASSWORD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651760" y="2715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A: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651760" y="3063240"/>
            <a:ext cx="18288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651760" y="3410712"/>
            <a:ext cx="182880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651760" y="3758184"/>
            <a:ext cx="182880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401568" y="4846320"/>
            <a:ext cx="329184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Registration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868680"/>
            <a:ext cx="2011680" cy="4069080"/>
          </a:xfrm>
          <a:prstGeom prst="roundRect">
            <a:avLst>
              <a:gd name="adj" fmla="val 818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0328" y="978408"/>
            <a:ext cx="188366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0328" y="978408"/>
            <a:ext cx="1883664" cy="29260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1005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Petra 🎓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919472" y="1325880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56048" y="135331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208 Available   📍 17 Areas   🏢 5 Landlords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937760" y="1673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CATEGORIES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937760" y="2020824"/>
            <a:ext cx="1828800" cy="2560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020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  APARTMENTS   HOUSES   ROOMS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937760" y="2368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LISTINGS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919472" y="2715768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956048" y="274320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Spacious 3-Bed House · Block 8 · BWP 7,500/mo ✅ Available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919472" y="3063240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956048" y="309067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Modern 2-Bed House · Phase 2 · BWP 6,000/mo ✅ Available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937760" y="3410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YOU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5687568" y="4846320"/>
            <a:ext cx="329184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Student Home Feed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58000" y="868680"/>
            <a:ext cx="2011680" cy="4069080"/>
          </a:xfrm>
          <a:prstGeom prst="roundRect">
            <a:avLst>
              <a:gd name="adj" fmla="val 818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22008" y="978408"/>
            <a:ext cx="1883664" cy="384048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22008" y="978408"/>
            <a:ext cx="1883664" cy="29260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67728" y="1005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LISTINGS  ·  KwaGae Housing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931152" y="1325880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967728" y="135331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50 Total   ✅ 50 Available   ❌ 0 Unavailable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6949440" y="1673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LISTINGS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6931152" y="2020824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967728" y="204825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 Budget 2-Bed – Ledumang  BWP 3,800/mo  ✅ Available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6931152" y="2368296"/>
            <a:ext cx="186537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967728" y="23957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 2-Bed House – Tlokweng  BWP 4,500/mo  ✅ Available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6949440" y="2715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6949440" y="3063240"/>
            <a:ext cx="1828800" cy="256032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LISTING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699248" y="4846320"/>
            <a:ext cx="329184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Host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SEARCH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69848" y="10424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Filter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13716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filter by price range (BWP 0-15,000/mo), property type (House, Apt, Studio, Room, Bachelor Flat, Duplex, Bedsitter), Gaborone area (17 zones), and move-in date.</a:t>
            </a:r>
            <a:endParaRPr lang="en-US" sz="900" dirty="0"/>
          </a:p>
        </p:txBody>
      </p:sp>
      <p:pic>
        <p:nvPicPr>
          <p:cNvPr id="10" name="Image 0" descr="/sessions/relaxed-great-heisenberg/mnt/KwaGae2/app/build/intermediates/assets/debug/mergeDebugAssets/listings/house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987552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9160" y="914400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14400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078992"/>
            <a:ext cx="502920" cy="50292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LIST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458968" y="10424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Management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58968" y="137160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create detailed listings with multiple photos, rent &amp; deposit, availability dates, utilities (Wi-Fi, Water, Electricity), property features (parking, security, furnished) and room details.</a:t>
            </a:r>
            <a:endParaRPr lang="en-US" sz="900" dirty="0"/>
          </a:p>
        </p:txBody>
      </p:sp>
      <p:pic>
        <p:nvPicPr>
          <p:cNvPr id="17" name="Image 1" descr="/sessions/relaxed-great-heisenberg/mnt/KwaGae2/app/build/intermediates/assets/debug/mergeDebugAssets/listings/apt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987552"/>
            <a:ext cx="502920" cy="5029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0040" y="2276856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276856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441448"/>
            <a:ext cx="502920" cy="50292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CHAT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1069848" y="2404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69848" y="273405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landlords communicate in real-time through listing-linked chats. Each chat thread is tied to a specific property, keeping conversations organised and in context.</a:t>
            </a:r>
            <a:endParaRPr lang="en-US" sz="900" dirty="0"/>
          </a:p>
        </p:txBody>
      </p:sp>
      <p:pic>
        <p:nvPicPr>
          <p:cNvPr id="24" name="Image 2" descr="/sessions/relaxed-great-heisenberg/mnt/KwaGae2/app/build/intermediates/assets/debug/mergeDebugAssets/listings/room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40480" y="2350008"/>
            <a:ext cx="502920" cy="5029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09160" y="2276856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2276856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46320" y="2441448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4632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PAY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5458968" y="2404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Reservation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58968" y="273405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pay a deposit via integrated PesaPal gateway. On success a unique reference (e.g. KWG-HEXEAV) is generated. The landlord uses this code to confirm the booking.</a:t>
            </a:r>
            <a:endParaRPr lang="en-US" sz="900" dirty="0"/>
          </a:p>
        </p:txBody>
      </p:sp>
      <p:pic>
        <p:nvPicPr>
          <p:cNvPr id="31" name="Image 3" descr="/sessions/relaxed-great-heisenberg/mnt/KwaGae2/app/build/intermediates/assets/debug/mergeDebugAssets/listings/house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0" y="2350008"/>
            <a:ext cx="502920" cy="5029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20040" y="3639312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" y="3639312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7200" y="3803904"/>
            <a:ext cx="502920" cy="50292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VERIFY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1069848" y="37673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Verification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069848" y="409651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 accounts require a verified student number from UB, Botho, Limkokwing, BOU, ABM, BAISAGO or Botswana Accountancy College before gaining access.</a:t>
            </a:r>
            <a:endParaRPr lang="en-US" sz="900" dirty="0"/>
          </a:p>
        </p:txBody>
      </p:sp>
      <p:pic>
        <p:nvPicPr>
          <p:cNvPr id="38" name="Image 4" descr="/sessions/relaxed-great-heisenberg/mnt/KwaGae2/app/build/intermediates/assets/debug/mergeDebugAssets/listings/bach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40480" y="3712464"/>
            <a:ext cx="502920" cy="5029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709160" y="3639312"/>
            <a:ext cx="4114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3639312"/>
            <a:ext cx="54864" cy="129844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846320" y="3803904"/>
            <a:ext cx="502920" cy="50292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84632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MAP</a:t>
            </a:r>
            <a:endParaRPr lang="en-US" sz="650" dirty="0"/>
          </a:p>
        </p:txBody>
      </p:sp>
      <p:sp>
        <p:nvSpPr>
          <p:cNvPr id="43" name="Text 36"/>
          <p:cNvSpPr/>
          <p:nvPr/>
        </p:nvSpPr>
        <p:spPr>
          <a:xfrm>
            <a:off x="5458968" y="37673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Coverage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458968" y="409651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span 17 Gaborone zones: Block 6-9, Phase 2 &amp; 4, Broadhurst, CBD, Old Naledi, Bontleng, Phakalane, Riverwalk, Ext 10 &amp; 12, G-West, Ledumang, Mogoditshane, Tlokweng.</a:t>
            </a:r>
            <a:endParaRPr lang="en-US" sz="900" dirty="0"/>
          </a:p>
        </p:txBody>
      </p:sp>
      <p:pic>
        <p:nvPicPr>
          <p:cNvPr id="45" name="Image 5" descr="/sessions/relaxed-great-heisenberg/mnt/KwaGae2/app/build/intermediates/assets/debug/mergeDebugAssets/listings/house4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0" y="3712464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kwagae_database  ·  MySQL (via Room ORM)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5166360" cy="29260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5166360" cy="329184"/>
          </a:xfrm>
          <a:prstGeom prst="rect">
            <a:avLst/>
          </a:prstGeom>
          <a:solidFill>
            <a:srgbClr val="3E2010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356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435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435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516636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19072"/>
            <a:ext cx="36576" cy="219456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7556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🔑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17556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(PK)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17556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primary key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516636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751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firebaseUid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1975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1975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UID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157984"/>
            <a:ext cx="516636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19456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28800" y="21945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88920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full name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377440"/>
            <a:ext cx="516636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41401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0" y="24140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88920" y="24140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 address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596896"/>
            <a:ext cx="516636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63347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26334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88920" y="26334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KW-prefixed internal ID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816352"/>
            <a:ext cx="516636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8529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0" y="28529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88920" y="2852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| provider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035808"/>
            <a:ext cx="516636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0723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ubStudentNo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0" y="3072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88920" y="30723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 number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255264"/>
            <a:ext cx="516636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2918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828800" y="32918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88920" y="32918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institution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474720"/>
            <a:ext cx="516636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511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isVerified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828800" y="351129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88920" y="35112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verification status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3694176"/>
            <a:ext cx="516636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7307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828800" y="37307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88920" y="37307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1389888"/>
            <a:ext cx="5166360" cy="2523744"/>
          </a:xfrm>
          <a:prstGeom prst="rect">
            <a:avLst/>
          </a:prstGeom>
          <a:ln w="12700">
            <a:solidFill>
              <a:srgbClr val="8D6B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23560" y="1042416"/>
            <a:ext cx="3246120" cy="29260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1051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 listings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23560" y="1389888"/>
            <a:ext cx="3246120" cy="329184"/>
          </a:xfrm>
          <a:prstGeom prst="rect">
            <a:avLst/>
          </a:prstGeom>
          <a:solidFill>
            <a:srgbClr val="3E2010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96712" y="1435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03720" y="14356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71816" y="143560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23560" y="1719072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23560" y="1719072"/>
            <a:ext cx="36576" cy="219456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17556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listingId 🔑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03720" y="175564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671816" y="17556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23560" y="1938528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96712" y="197510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firestoreId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03720" y="197510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671816" y="197510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doc ref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623560" y="2157984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96712" y="21945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903720" y="219456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671816" y="219456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title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623560" y="2377440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96712" y="24140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903720" y="241401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671816" y="24140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info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23560" y="2596896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96712" y="26334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903720" y="263347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671816" y="26334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&amp; address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623560" y="2816352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96712" y="28529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903720" y="285292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71816" y="285292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House/Apt/Room…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623560" y="3035808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96712" y="3072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903720" y="30723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671816" y="30723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(BWP/mo)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623560" y="3255264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96712" y="329184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903720" y="32918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671816" y="329184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(BWP)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623560" y="3474720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96712" y="351129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903720" y="351129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671816" y="351129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date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623560" y="3694176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37307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isAvailable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903720" y="373075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671816" y="37307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toggle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623560" y="3913632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96712" y="39502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903720" y="395020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671816" y="39502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623560" y="4133088"/>
            <a:ext cx="3246120" cy="219456"/>
          </a:xfrm>
          <a:prstGeom prst="rect">
            <a:avLst/>
          </a:prstGeom>
          <a:solidFill>
            <a:srgbClr val="2E1C0C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23560" y="4133088"/>
            <a:ext cx="36576" cy="21945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96712" y="41696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🔗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903720" y="416966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7671816" y="416966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providers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623560" y="4352544"/>
            <a:ext cx="3246120" cy="219456"/>
          </a:xfrm>
          <a:prstGeom prst="rect">
            <a:avLst/>
          </a:prstGeom>
          <a:solidFill>
            <a:srgbClr val="221408"/>
          </a:solidFill>
          <a:ln w="12700">
            <a:solidFill>
              <a:srgbClr val="3E201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96712" y="43891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providerName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903720" y="438912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7671816" y="438912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name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623560" y="1389888"/>
            <a:ext cx="3246120" cy="3182112"/>
          </a:xfrm>
          <a:prstGeom prst="rect">
            <a:avLst/>
          </a:prstGeom>
          <a:ln w="12700">
            <a:solidFill>
              <a:srgbClr val="8D6B3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86400" y="2450592"/>
            <a:ext cx="18288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dash"/>
          </a:ln>
        </p:spPr>
      </p:sp>
      <p:sp>
        <p:nvSpPr>
          <p:cNvPr id="115" name="Text 113"/>
          <p:cNvSpPr/>
          <p:nvPr/>
        </p:nvSpPr>
        <p:spPr>
          <a:xfrm>
            <a:off x="5257800" y="2331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8D4"/>
                </a:solidFill>
              </a:rPr>
              <a:t>1 : 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&amp; Payment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01368" y="1645920"/>
            <a:ext cx="182880" cy="73152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81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BBAA"/>
                </a:solidFill>
              </a:rPr>
              <a:t>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48132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481328" cy="109728"/>
          </a:xfrm>
          <a:prstGeom prst="rect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325880"/>
            <a:ext cx="548640" cy="548640"/>
          </a:xfrm>
          <a:prstGeom prst="ellipse">
            <a:avLst/>
          </a:prstGeom>
          <a:solidFill>
            <a:srgbClr val="8D6B3A"/>
          </a:solidFill>
          <a:ln w="12700">
            <a:solidFill>
              <a:srgbClr val="8D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024128" cy="27432"/>
          </a:xfrm>
          <a:prstGeom prst="rect">
            <a:avLst/>
          </a:prstGeom>
          <a:solidFill>
            <a:srgbClr val="E0D4C4"/>
          </a:solidFill>
          <a:ln w="12700">
            <a:solidFill>
              <a:srgbClr val="E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060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filters listings by area, price, type and move-in date. 208 verified listings available.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65576" y="1645920"/>
            <a:ext cx="182880" cy="73152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581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BBAA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84248" y="1143000"/>
            <a:ext cx="148132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143000"/>
            <a:ext cx="1481328" cy="1097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325880"/>
            <a:ext cx="548640" cy="548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75688" y="1965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Landlord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12848" y="2514600"/>
            <a:ext cx="1024128" cy="27432"/>
          </a:xfrm>
          <a:prstGeom prst="rect">
            <a:avLst/>
          </a:prstGeom>
          <a:solidFill>
            <a:srgbClr val="E0D4C4"/>
          </a:solidFill>
          <a:ln w="12700">
            <a:solidFill>
              <a:srgbClr val="E0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5688" y="26060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sends enquiry via in-app chat. Chat is linked to the specific listing for context.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9784" y="1645920"/>
            <a:ext cx="182880" cy="73152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581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BBAA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48456" y="1143000"/>
            <a:ext cx="148132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48456" y="1143000"/>
            <a:ext cx="1481328" cy="10972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325880"/>
            <a:ext cx="548640" cy="548640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39896" y="1965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Deposit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77056" y="2514600"/>
            <a:ext cx="1024128" cy="27432"/>
          </a:xfrm>
          <a:prstGeom prst="rect">
            <a:avLst/>
          </a:prstGeom>
          <a:solidFill>
            <a:srgbClr val="E0D4C4"/>
          </a:solidFill>
          <a:ln w="12700">
            <a:solidFill>
              <a:srgbClr val="E0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26060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initiates a secure deposit payment (e.g. BWP 15,000) via the integrated PesaPal gateway.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93992" y="1645920"/>
            <a:ext cx="182880" cy="73152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1581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BBAA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12664" y="1143000"/>
            <a:ext cx="148132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12664" y="1143000"/>
            <a:ext cx="1481328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79008" y="132588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04104" y="1965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Confirmed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41264" y="2514600"/>
            <a:ext cx="1024128" cy="27432"/>
          </a:xfrm>
          <a:prstGeom prst="rect">
            <a:avLst/>
          </a:prstGeom>
          <a:solidFill>
            <a:srgbClr val="E0D4C4"/>
          </a:solidFill>
          <a:ln w="12700">
            <a:solidFill>
              <a:srgbClr val="E0D4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04104" y="26060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generates a unique reference code (e.g. KWG-HEXEAV). Property status updates to Reserved.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76872" y="1143000"/>
            <a:ext cx="1481328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4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76872" y="1143000"/>
            <a:ext cx="14813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43216" y="1325880"/>
            <a:ext cx="548640" cy="54864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4321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68312" y="1965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Confirms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05472" y="2514600"/>
            <a:ext cx="1024128" cy="27432"/>
          </a:xfrm>
          <a:prstGeom prst="rect">
            <a:avLst/>
          </a:prstGeom>
          <a:solidFill>
            <a:srgbClr val="E0D4C4"/>
          </a:solidFill>
          <a:ln w="12700">
            <a:solidFill>
              <a:srgbClr val="E0D4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68312" y="26060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receives the reference number, verifies payment, and marks the listing as unavailable.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F0FBF0"/>
          </a:solidFill>
          <a:ln w="635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069080"/>
            <a:ext cx="850392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1696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 |  Ref: KWG-HEXEAV  |  Property: Spacious 3-Bed House, Block 8  |  Deposit: BWP 15,000  |  Date: 22 May 2026, 23:09  |  Status: Reserved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KwaGae – Gaborone Student Housing Platform</dc:title>
  <dc:subject>PptxGenJS Presentation</dc:subject>
  <dc:creator>KwaGae</dc:creator>
  <cp:lastModifiedBy>KwaGae</cp:lastModifiedBy>
  <cp:revision>1</cp:revision>
  <dcterms:created xsi:type="dcterms:W3CDTF">2026-05-22T21:38:36Z</dcterms:created>
  <dcterms:modified xsi:type="dcterms:W3CDTF">2026-05-22T21:38:36Z</dcterms:modified>
</cp:coreProperties>
</file>