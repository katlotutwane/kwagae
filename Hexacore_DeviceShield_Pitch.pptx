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39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Botswana has 81.4% internet penetration and 2.9M mobile subscribers, yet insurance penetration is only 3.3% of GDP. Devices cost up to 4x the monthly wage with no affordable all-inclusive protection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 Shield solves the problem through three pillars: physical protection, cybersecurity, and IT support — all in one digital subscription starting at P50/month.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 from P50–P280/month. Shield Standard (P120) is our flagship product expected to drive highest volume. All plans via mobile money — zero friction signup.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 P3.3B, SAM P496M, SOM P14.4M by Year 3. Three core segments: students, families, and SMEs.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Business Model Canvas as documented in the Hexacore Solutions business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monthly marketing spend under P7,000. Break-even by Month 4. National expansion to Francistown and Maun in Year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competitor in Botswana bundles physical protection, cybersecurity, and IT support in a single subscription. We close all three gaps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3-month cash flow projection from the Hexacore Solutions business plan. Total funding P200K (P150K CEDA + P50K founders). Break-even at Month 4 with approx 263 active subscribers.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seek P200K: P150K CEDA loan + P50K founder equity. Break-even Month 4. P14.4M revenue by Year 3. Thank you -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HEXACORE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8595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352044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8836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Device. Protect Your Life.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3042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Botswana's first subscription-based platform combining physical device insurance, cybersecurity tools and IT support — built for 2.9M mobile subscribers.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3163824"/>
            <a:ext cx="3520440" cy="1417320"/>
          </a:xfrm>
          <a:prstGeom prst="rect">
            <a:avLst/>
          </a:prstGeom>
          <a:solidFill>
            <a:srgbClr val="0A1520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1" name="Shape 9"/>
          <p:cNvSpPr/>
          <p:nvPr/>
        </p:nvSpPr>
        <p:spPr>
          <a:xfrm>
            <a:off x="347472" y="3163824"/>
            <a:ext cx="64008" cy="14173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2" name="Shape 10"/>
          <p:cNvSpPr/>
          <p:nvPr/>
        </p:nvSpPr>
        <p:spPr>
          <a:xfrm>
            <a:off x="347472" y="3163824"/>
            <a:ext cx="352044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3" name="Text 11"/>
          <p:cNvSpPr/>
          <p:nvPr/>
        </p:nvSpPr>
        <p:spPr>
          <a:xfrm>
            <a:off x="512064" y="32186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064" y="3456432"/>
            <a:ext cx="3200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Botswana's most trusted provider of device protection and digital security services, safeguarding the digital infrastructure of every household, student and SME by 2036.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512064"/>
            <a:ext cx="42519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7" name="Shape 15"/>
          <p:cNvSpPr/>
          <p:nvPr/>
        </p:nvSpPr>
        <p:spPr>
          <a:xfrm>
            <a:off x="4572000" y="640080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8" name="Shape 16"/>
          <p:cNvSpPr/>
          <p:nvPr/>
        </p:nvSpPr>
        <p:spPr>
          <a:xfrm>
            <a:off x="4572000" y="640080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9" name="Text 17"/>
          <p:cNvSpPr/>
          <p:nvPr/>
        </p:nvSpPr>
        <p:spPr>
          <a:xfrm>
            <a:off x="4736592" y="676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Kaelo Kealeboga Selome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36592" y="9509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83880" y="713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353312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3" name="Shape 21"/>
          <p:cNvSpPr/>
          <p:nvPr/>
        </p:nvSpPr>
        <p:spPr>
          <a:xfrm>
            <a:off x="4572000" y="1353312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4" name="Text 22"/>
          <p:cNvSpPr/>
          <p:nvPr/>
        </p:nvSpPr>
        <p:spPr>
          <a:xfrm>
            <a:off x="4736592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Kitsiso Keaitse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36592" y="1664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Marketing Officer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83880" y="14264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2066544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8" name="Shape 26"/>
          <p:cNvSpPr/>
          <p:nvPr/>
        </p:nvSpPr>
        <p:spPr>
          <a:xfrm>
            <a:off x="4572000" y="2066544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9" name="Text 27"/>
          <p:cNvSpPr/>
          <p:nvPr/>
        </p:nvSpPr>
        <p:spPr>
          <a:xfrm>
            <a:off x="4736592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Katlo Tutwane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36592" y="2377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83880" y="21396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2779776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3" name="Shape 31"/>
          <p:cNvSpPr/>
          <p:nvPr/>
        </p:nvSpPr>
        <p:spPr>
          <a:xfrm>
            <a:off x="4572000" y="2779776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4" name="Text 32"/>
          <p:cNvSpPr/>
          <p:nvPr/>
        </p:nvSpPr>
        <p:spPr>
          <a:xfrm>
            <a:off x="4736592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Larona Mothame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36592" y="3090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Technical Officer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28529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3493008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8" name="Shape 36"/>
          <p:cNvSpPr/>
          <p:nvPr/>
        </p:nvSpPr>
        <p:spPr>
          <a:xfrm>
            <a:off x="4572000" y="3493008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9" name="Text 37"/>
          <p:cNvSpPr/>
          <p:nvPr/>
        </p:nvSpPr>
        <p:spPr>
          <a:xfrm>
            <a:off x="4736592" y="3529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George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36592" y="38039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Co-Chief Technical Officer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566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4206240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3" name="Shape 41"/>
          <p:cNvSpPr/>
          <p:nvPr/>
        </p:nvSpPr>
        <p:spPr>
          <a:xfrm>
            <a:off x="4572000" y="4206240"/>
            <a:ext cx="64008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4" name="Text 42"/>
          <p:cNvSpPr/>
          <p:nvPr/>
        </p:nvSpPr>
        <p:spPr>
          <a:xfrm>
            <a:off x="4736592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Bianca Kedukaetswe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36592" y="45171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Client Support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83880" y="42793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0" y="482803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Gaborone, Botswana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81.4%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Penetration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(DataReportal, 2026)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0" name="Shape 8"/>
          <p:cNvSpPr/>
          <p:nvPr/>
        </p:nvSpPr>
        <p:spPr>
          <a:xfrm>
            <a:off x="2487168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1" name="Text 9"/>
          <p:cNvSpPr/>
          <p:nvPr/>
        </p:nvSpPr>
        <p:spPr>
          <a:xfrm>
            <a:off x="2487168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87168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Botswana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4" name="Shape 12"/>
          <p:cNvSpPr/>
          <p:nvPr/>
        </p:nvSpPr>
        <p:spPr>
          <a:xfrm>
            <a:off x="4608576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5" name="Text 13"/>
          <p:cNvSpPr/>
          <p:nvPr/>
        </p:nvSpPr>
        <p:spPr>
          <a:xfrm>
            <a:off x="4608576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08576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GDP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9984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8" name="Shape 16"/>
          <p:cNvSpPr/>
          <p:nvPr/>
        </p:nvSpPr>
        <p:spPr>
          <a:xfrm>
            <a:off x="6729984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9" name="Text 17"/>
          <p:cNvSpPr/>
          <p:nvPr/>
        </p:nvSpPr>
        <p:spPr>
          <a:xfrm>
            <a:off x="6729984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P30K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9984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Device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103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GAP IS CRITICAL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2322576"/>
            <a:ext cx="8503920" cy="1737360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device owners in Botswana have ZERO financial protection against theft, damage or loss.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devices cost up to P30,000 — multiples of the average monthly wage of P7,462.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insurance products exclude theft &amp; loss, rely on offline processes, or are priced in USD.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insurance penetration (3.3% of GDP) despite 81.4% internet penetration — a structural gap.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169664"/>
            <a:ext cx="8503920" cy="71323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4" name="Text 22"/>
          <p:cNvSpPr/>
          <p:nvPr/>
        </p:nvSpPr>
        <p:spPr>
          <a:xfrm>
            <a:off x="512064" y="416966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Botswana's P8B+ device market is almost entirely unprotected. Device Shield closes this gap.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 — DEVICE SHIELD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subscription. Total protection.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 by Hexacore Solutions is a subscription-based digital platform delivering affordable device protection combining physical insurance, cybersecurity tools and IT support — powered by a digital platform built for Botswana's population.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2788920" cy="292608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8" name="Shape 6"/>
          <p:cNvSpPr/>
          <p:nvPr/>
        </p:nvSpPr>
        <p:spPr>
          <a:xfrm>
            <a:off x="365760" y="1975104"/>
            <a:ext cx="278892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2514600" cy="0"/>
          </a:xfrm>
          <a:prstGeom prst="line">
            <a:avLst/>
          </a:prstGeom>
          <a:noFill/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repair &amp; replacement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90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&amp; loss cover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BIHL-underwritten (NBFIRA licensed)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activation waiting period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975104"/>
            <a:ext cx="2788920" cy="292608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6" name="Shape 14"/>
          <p:cNvSpPr/>
          <p:nvPr/>
        </p:nvSpPr>
        <p:spPr>
          <a:xfrm>
            <a:off x="3291840" y="1975104"/>
            <a:ext cx="278892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7" name="Text 15"/>
          <p:cNvSpPr/>
          <p:nvPr/>
        </p:nvSpPr>
        <p:spPr>
          <a:xfrm>
            <a:off x="3429000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2395728"/>
            <a:ext cx="2514600" cy="0"/>
          </a:xfrm>
          <a:prstGeom prst="line">
            <a:avLst/>
          </a:prstGeom>
          <a:noFill/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9" name="Text 17"/>
          <p:cNvSpPr/>
          <p:nvPr/>
        </p:nvSpPr>
        <p:spPr>
          <a:xfrm>
            <a:off x="342900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Anti-malware protection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990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access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4930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device wipe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975104"/>
            <a:ext cx="2788920" cy="292608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4" name="Shape 22"/>
          <p:cNvSpPr/>
          <p:nvPr/>
        </p:nvSpPr>
        <p:spPr>
          <a:xfrm>
            <a:off x="6217920" y="1975104"/>
            <a:ext cx="278892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5" name="Text 23"/>
          <p:cNvSpPr/>
          <p:nvPr/>
        </p:nvSpPr>
        <p:spPr>
          <a:xfrm>
            <a:off x="6355080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395728"/>
            <a:ext cx="2514600" cy="0"/>
          </a:xfrm>
          <a:prstGeom prst="line">
            <a:avLst/>
          </a:prstGeom>
          <a:noFill/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7" name="Text 25"/>
          <p:cNvSpPr/>
          <p:nvPr/>
        </p:nvSpPr>
        <p:spPr>
          <a:xfrm>
            <a:off x="635508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response turnaround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990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 (Business)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4930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via app or branch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IMEI/serial registration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&amp; SERVICE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057400" cy="4023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6" name="Text 4"/>
          <p:cNvSpPr/>
          <p:nvPr/>
        </p:nvSpPr>
        <p:spPr>
          <a:xfrm>
            <a:off x="365760" y="96926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BASIC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37360" y="144475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1837944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repair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68833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9067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IMEI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2304" y="932688"/>
            <a:ext cx="2057400" cy="4023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5" name="Shape 13"/>
          <p:cNvSpPr/>
          <p:nvPr/>
        </p:nvSpPr>
        <p:spPr>
          <a:xfrm>
            <a:off x="2432304" y="932688"/>
            <a:ext cx="205740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6" name="Text 14"/>
          <p:cNvSpPr/>
          <p:nvPr/>
        </p:nvSpPr>
        <p:spPr>
          <a:xfrm>
            <a:off x="2432304" y="9326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42032" y="124358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STANDARD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42032" y="16093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P120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913632" y="171907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42032" y="217627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42032" y="2468880"/>
            <a:ext cx="1837944" cy="0"/>
          </a:xfrm>
          <a:prstGeom prst="line">
            <a:avLst/>
          </a:prstGeom>
          <a:noFill/>
          <a:ln w="6350">
            <a:solidFill>
              <a:srgbClr val="162032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2" name="Text 20"/>
          <p:cNvSpPr/>
          <p:nvPr/>
        </p:nvSpPr>
        <p:spPr>
          <a:xfrm>
            <a:off x="2542032" y="256032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Basic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2032" y="296265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coverage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42032" y="336499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Anti-malware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376732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IT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932688"/>
            <a:ext cx="2057400" cy="4023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7" name="Text 25"/>
          <p:cNvSpPr/>
          <p:nvPr/>
        </p:nvSpPr>
        <p:spPr>
          <a:xfrm>
            <a:off x="4718304" y="96926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PREMIUM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18304" y="13350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P200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89904" y="144475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18304" y="19019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2194560"/>
            <a:ext cx="1837944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32" name="Text 30"/>
          <p:cNvSpPr/>
          <p:nvPr/>
        </p:nvSpPr>
        <p:spPr>
          <a:xfrm>
            <a:off x="4718304" y="2286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18304" y="268833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+ cloud backup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309067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wipe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8304" y="34930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coverage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84848" y="932688"/>
            <a:ext cx="2057400" cy="4023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7" name="Text 35"/>
          <p:cNvSpPr/>
          <p:nvPr/>
        </p:nvSpPr>
        <p:spPr>
          <a:xfrm>
            <a:off x="6894576" y="96926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BUSINESS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94576" y="13350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P280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266176" y="144475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94576" y="19019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(5 devices)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94576" y="2194560"/>
            <a:ext cx="1837944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42" name="Text 40"/>
          <p:cNvSpPr/>
          <p:nvPr/>
        </p:nvSpPr>
        <p:spPr>
          <a:xfrm>
            <a:off x="6894576" y="2286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Premium features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94576" y="268833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5-device cover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94576" y="309067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manager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94576" y="34930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IT audit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503920" cy="6217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8" name="Text 6"/>
          <p:cNvSpPr/>
          <p:nvPr/>
        </p:nvSpPr>
        <p:spPr>
          <a:xfrm>
            <a:off x="502920" y="11338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 Market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2.9M mobile subscribers across Botswana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0" y="115214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P3.3B / yr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4677156" cy="62179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3" name="Text 11"/>
          <p:cNvSpPr/>
          <p:nvPr/>
        </p:nvSpPr>
        <p:spPr>
          <a:xfrm>
            <a:off x="502920" y="18470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Serviceable Addressable Market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~435K urban smartphone users (Gaborone / Francistown / Maun)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0" y="18653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P496M / yr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7" name="Shape 15"/>
          <p:cNvSpPr/>
          <p:nvPr/>
        </p:nvSpPr>
        <p:spPr>
          <a:xfrm>
            <a:off x="365760" y="2505456"/>
            <a:ext cx="2125980" cy="6217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Serviceable Obtainable Market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8163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subscribers by Year 3 — conservative target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P14.4M / yr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32735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2779776" cy="148132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3" name="Shape 21"/>
          <p:cNvSpPr/>
          <p:nvPr/>
        </p:nvSpPr>
        <p:spPr>
          <a:xfrm>
            <a:off x="365760" y="3456432"/>
            <a:ext cx="2779776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4" name="Text 22"/>
          <p:cNvSpPr/>
          <p:nvPr/>
        </p:nvSpPr>
        <p:spPr>
          <a:xfrm>
            <a:off x="493776" y="35112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Young Professionals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38587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18-35  |  UB, BIUST, BCA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|  Cannot afford replacement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digital literacy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73552" y="3456432"/>
            <a:ext cx="2779776" cy="148132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7" name="Shape 25"/>
          <p:cNvSpPr/>
          <p:nvPr/>
        </p:nvSpPr>
        <p:spPr>
          <a:xfrm>
            <a:off x="3273552" y="3456432"/>
            <a:ext cx="2779776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8" name="Text 26"/>
          <p:cNvSpPr/>
          <p:nvPr/>
        </p:nvSpPr>
        <p:spPr>
          <a:xfrm>
            <a:off x="3401568" y="35112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01568" y="38587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30-50  |  2-4 devices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 |  Need simple claims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income, urban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3456432"/>
            <a:ext cx="2779776" cy="1481328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1" name="Shape 29"/>
          <p:cNvSpPr/>
          <p:nvPr/>
        </p:nvSpPr>
        <p:spPr>
          <a:xfrm>
            <a:off x="6181344" y="3456432"/>
            <a:ext cx="2779776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2" name="Text 30"/>
          <p:cNvSpPr/>
          <p:nvPr/>
        </p:nvSpPr>
        <p:spPr>
          <a:xfrm>
            <a:off x="6309360" y="35112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(SMEs)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8587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1-20 employees  |  Device-dependent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budget  |  Downtime = lost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services sector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CANVAS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1248"/>
            <a:ext cx="8595360" cy="4133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&amp; GROWTH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534924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 Ads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7560" y="107899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P2,500/mo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53712" y="10789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 leads/mo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Broadcasts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17007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P800/mo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170078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conv/mo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6" name="Text 14"/>
          <p:cNvSpPr/>
          <p:nvPr/>
        </p:nvSpPr>
        <p:spPr>
          <a:xfrm>
            <a:off x="502920" y="23225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Activations (UB/BIUST/BCA)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P1,500/event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23225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 sign-ups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44368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294436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P1,200/mo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29443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leads/mo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BOCCIM / CEDA Trade Fairs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35661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P1,500/qtr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53712" y="35661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pipeline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MILESTONES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1078992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9" name="Shape 27"/>
          <p:cNvSpPr/>
          <p:nvPr/>
        </p:nvSpPr>
        <p:spPr>
          <a:xfrm>
            <a:off x="5989320" y="1078992"/>
            <a:ext cx="731520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0" name="Text 28"/>
          <p:cNvSpPr/>
          <p:nvPr/>
        </p:nvSpPr>
        <p:spPr>
          <a:xfrm>
            <a:off x="5989320" y="10789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Y1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84848" y="10789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launch — iOS &amp; Android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1700784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3" name="Shape 31"/>
          <p:cNvSpPr/>
          <p:nvPr/>
        </p:nvSpPr>
        <p:spPr>
          <a:xfrm>
            <a:off x="5989320" y="1700784"/>
            <a:ext cx="731520" cy="53035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4" name="Text 32"/>
          <p:cNvSpPr/>
          <p:nvPr/>
        </p:nvSpPr>
        <p:spPr>
          <a:xfrm>
            <a:off x="5989320" y="170078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 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84848" y="17007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 (~263 active subscribers)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89320" y="2322576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7" name="Shape 35"/>
          <p:cNvSpPr/>
          <p:nvPr/>
        </p:nvSpPr>
        <p:spPr>
          <a:xfrm>
            <a:off x="5989320" y="2322576"/>
            <a:ext cx="731520" cy="530352"/>
          </a:xfrm>
          <a:prstGeom prst="rect">
            <a:avLst/>
          </a:prstGeom>
          <a:solidFill>
            <a:srgbClr val="1E5C9E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8" name="Text 36"/>
          <p:cNvSpPr/>
          <p:nvPr/>
        </p:nvSpPr>
        <p:spPr>
          <a:xfrm>
            <a:off x="5989320" y="232257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84848" y="232257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subscribers  |  P1.14M revenue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89320" y="2944368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1" name="Shape 39"/>
          <p:cNvSpPr/>
          <p:nvPr/>
        </p:nvSpPr>
        <p:spPr>
          <a:xfrm>
            <a:off x="5989320" y="2944368"/>
            <a:ext cx="731520" cy="530352"/>
          </a:xfrm>
          <a:prstGeom prst="rect">
            <a:avLst/>
          </a:prstGeom>
          <a:solidFill>
            <a:srgbClr val="5A4A8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2" name="Text 40"/>
          <p:cNvSpPr/>
          <p:nvPr/>
        </p:nvSpPr>
        <p:spPr>
          <a:xfrm>
            <a:off x="5989320" y="294436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Y2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84848" y="29443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Expand: Francistown &amp; Maun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89320" y="3566160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5" name="Shape 43"/>
          <p:cNvSpPr/>
          <p:nvPr/>
        </p:nvSpPr>
        <p:spPr>
          <a:xfrm>
            <a:off x="5989320" y="3566160"/>
            <a:ext cx="731520" cy="530352"/>
          </a:xfrm>
          <a:prstGeom prst="rect">
            <a:avLst/>
          </a:prstGeom>
          <a:solidFill>
            <a:srgbClr val="2A6A5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6" name="Text 44"/>
          <p:cNvSpPr/>
          <p:nvPr/>
        </p:nvSpPr>
        <p:spPr>
          <a:xfrm>
            <a:off x="5989320" y="35661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84848" y="3566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subscribers  |  P14.4M/yr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4279392"/>
            <a:ext cx="845820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9" name="Shape 47"/>
          <p:cNvSpPr/>
          <p:nvPr/>
        </p:nvSpPr>
        <p:spPr>
          <a:xfrm>
            <a:off x="365760" y="4279392"/>
            <a:ext cx="84582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0" name="Text 48"/>
          <p:cNvSpPr/>
          <p:nvPr/>
        </p:nvSpPr>
        <p:spPr>
          <a:xfrm>
            <a:off x="502920" y="42793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Marketing Budget: under P7,000  |  Break-even: Month 4 (~263 subscribers)  |  CAC target: &lt; P58/subscriber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503920" cy="33741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Shield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Shops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Repair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 &amp; Loss 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/ VPN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Support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Claims (App/Web)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BWP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NBFIRA Compliant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06240"/>
            <a:ext cx="8503920" cy="43891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8" name="Text 5"/>
          <p:cNvSpPr/>
          <p:nvPr/>
        </p:nvSpPr>
        <p:spPr>
          <a:xfrm>
            <a:off x="502920" y="4206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 is the ONLY platform in Botswana combining physical protection + cybersecurity + IT support in ONE subscription.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HIGHLIGHTS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Cash Flow Projection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475488"/>
            <a:ext cx="85953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6" name="Shape 4"/>
          <p:cNvSpPr/>
          <p:nvPr/>
        </p:nvSpPr>
        <p:spPr>
          <a:xfrm>
            <a:off x="228600" y="530352"/>
            <a:ext cx="2606040" cy="153619"/>
          </a:xfrm>
          <a:prstGeom prst="rect">
            <a:avLst/>
          </a:prstGeom>
          <a:solidFill>
            <a:srgbClr val="0D1B2A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" name="Text 5"/>
          <p:cNvSpPr/>
          <p:nvPr/>
        </p:nvSpPr>
        <p:spPr>
          <a:xfrm>
            <a:off x="228600" y="530352"/>
            <a:ext cx="2606040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834640" y="530352"/>
            <a:ext cx="1536192" cy="153619"/>
          </a:xfrm>
          <a:prstGeom prst="rect">
            <a:avLst/>
          </a:prstGeom>
          <a:solidFill>
            <a:srgbClr val="0D1B2A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9" name="Text 7"/>
          <p:cNvSpPr/>
          <p:nvPr/>
        </p:nvSpPr>
        <p:spPr>
          <a:xfrm>
            <a:off x="2834640" y="53035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(BWP)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0832" y="530352"/>
            <a:ext cx="1536192" cy="153619"/>
          </a:xfrm>
          <a:prstGeom prst="rect">
            <a:avLst/>
          </a:prstGeom>
          <a:solidFill>
            <a:srgbClr val="0D1B2A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" name="Text 9"/>
          <p:cNvSpPr/>
          <p:nvPr/>
        </p:nvSpPr>
        <p:spPr>
          <a:xfrm>
            <a:off x="4370832" y="53035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(BWP)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07024" y="530352"/>
            <a:ext cx="1536192" cy="153619"/>
          </a:xfrm>
          <a:prstGeom prst="rect">
            <a:avLst/>
          </a:prstGeom>
          <a:solidFill>
            <a:srgbClr val="0D1B2A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3" name="Text 11"/>
          <p:cNvSpPr/>
          <p:nvPr/>
        </p:nvSpPr>
        <p:spPr>
          <a:xfrm>
            <a:off x="5907024" y="53035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(BWP)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43216" y="530352"/>
            <a:ext cx="1517904" cy="153619"/>
          </a:xfrm>
          <a:prstGeom prst="rect">
            <a:avLst/>
          </a:prstGeom>
          <a:solidFill>
            <a:srgbClr val="0D1B2A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" name="Text 13"/>
          <p:cNvSpPr/>
          <p:nvPr/>
        </p:nvSpPr>
        <p:spPr>
          <a:xfrm>
            <a:off x="7443216" y="530352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(BWP)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8600" y="683971"/>
            <a:ext cx="2606040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7" name="Text 15"/>
          <p:cNvSpPr/>
          <p:nvPr/>
        </p:nvSpPr>
        <p:spPr>
          <a:xfrm>
            <a:off x="283464" y="683971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— CASH INFLOWS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834640" y="683971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9" name="Shape 17"/>
          <p:cNvSpPr/>
          <p:nvPr/>
        </p:nvSpPr>
        <p:spPr>
          <a:xfrm>
            <a:off x="4370832" y="683971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0" name="Shape 18"/>
          <p:cNvSpPr/>
          <p:nvPr/>
        </p:nvSpPr>
        <p:spPr>
          <a:xfrm>
            <a:off x="5907024" y="683971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1" name="Shape 19"/>
          <p:cNvSpPr/>
          <p:nvPr/>
        </p:nvSpPr>
        <p:spPr>
          <a:xfrm>
            <a:off x="7443216" y="683971"/>
            <a:ext cx="1517904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2" name="Shape 20"/>
          <p:cNvSpPr/>
          <p:nvPr/>
        </p:nvSpPr>
        <p:spPr>
          <a:xfrm>
            <a:off x="228600" y="837590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3" name="Text 21"/>
          <p:cNvSpPr/>
          <p:nvPr/>
        </p:nvSpPr>
        <p:spPr>
          <a:xfrm>
            <a:off x="283464" y="837590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 Loan Drawdown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834640" y="83759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5" name="Text 23"/>
          <p:cNvSpPr/>
          <p:nvPr/>
        </p:nvSpPr>
        <p:spPr>
          <a:xfrm>
            <a:off x="2834640" y="83759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150,000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370832" y="83759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7" name="Text 25"/>
          <p:cNvSpPr/>
          <p:nvPr/>
        </p:nvSpPr>
        <p:spPr>
          <a:xfrm>
            <a:off x="4370832" y="83759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907024" y="83759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9" name="Text 27"/>
          <p:cNvSpPr/>
          <p:nvPr/>
        </p:nvSpPr>
        <p:spPr>
          <a:xfrm>
            <a:off x="5907024" y="83759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443216" y="837590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31" name="Text 29"/>
          <p:cNvSpPr/>
          <p:nvPr/>
        </p:nvSpPr>
        <p:spPr>
          <a:xfrm>
            <a:off x="7443216" y="837590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150,000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8600" y="991210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33" name="Text 31"/>
          <p:cNvSpPr/>
          <p:nvPr/>
        </p:nvSpPr>
        <p:spPr>
          <a:xfrm>
            <a:off x="283464" y="991210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Capital Contributions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834640" y="99121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35" name="Text 33"/>
          <p:cNvSpPr/>
          <p:nvPr/>
        </p:nvSpPr>
        <p:spPr>
          <a:xfrm>
            <a:off x="2834640" y="99121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50,000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370832" y="99121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37" name="Text 35"/>
          <p:cNvSpPr/>
          <p:nvPr/>
        </p:nvSpPr>
        <p:spPr>
          <a:xfrm>
            <a:off x="4370832" y="99121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907024" y="99121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39" name="Text 37"/>
          <p:cNvSpPr/>
          <p:nvPr/>
        </p:nvSpPr>
        <p:spPr>
          <a:xfrm>
            <a:off x="5907024" y="99121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43216" y="991210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41" name="Text 39"/>
          <p:cNvSpPr/>
          <p:nvPr/>
        </p:nvSpPr>
        <p:spPr>
          <a:xfrm>
            <a:off x="7443216" y="991210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50,000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28600" y="1144829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43" name="Text 41"/>
          <p:cNvSpPr/>
          <p:nvPr/>
        </p:nvSpPr>
        <p:spPr>
          <a:xfrm>
            <a:off x="283464" y="1144829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(P95/sub)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834640" y="1144829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45" name="Text 43"/>
          <p:cNvSpPr/>
          <p:nvPr/>
        </p:nvSpPr>
        <p:spPr>
          <a:xfrm>
            <a:off x="2834640" y="1144829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7,600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370832" y="1144829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47" name="Text 45"/>
          <p:cNvSpPr/>
          <p:nvPr/>
        </p:nvSpPr>
        <p:spPr>
          <a:xfrm>
            <a:off x="4370832" y="1144829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17,100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907024" y="1144829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49" name="Text 47"/>
          <p:cNvSpPr/>
          <p:nvPr/>
        </p:nvSpPr>
        <p:spPr>
          <a:xfrm>
            <a:off x="5907024" y="1144829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30,400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443216" y="1144829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51" name="Text 49"/>
          <p:cNvSpPr/>
          <p:nvPr/>
        </p:nvSpPr>
        <p:spPr>
          <a:xfrm>
            <a:off x="7443216" y="1144829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55,100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28600" y="1298448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53" name="Text 51"/>
          <p:cNvSpPr/>
          <p:nvPr/>
        </p:nvSpPr>
        <p:spPr>
          <a:xfrm>
            <a:off x="283464" y="1298448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834640" y="129844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55" name="Text 53"/>
          <p:cNvSpPr/>
          <p:nvPr/>
        </p:nvSpPr>
        <p:spPr>
          <a:xfrm>
            <a:off x="2834640" y="129844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370832" y="129844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57" name="Text 55"/>
          <p:cNvSpPr/>
          <p:nvPr/>
        </p:nvSpPr>
        <p:spPr>
          <a:xfrm>
            <a:off x="4370832" y="129844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07024" y="129844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59" name="Text 57"/>
          <p:cNvSpPr/>
          <p:nvPr/>
        </p:nvSpPr>
        <p:spPr>
          <a:xfrm>
            <a:off x="5907024" y="129844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443216" y="1298448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61" name="Text 59"/>
          <p:cNvSpPr/>
          <p:nvPr/>
        </p:nvSpPr>
        <p:spPr>
          <a:xfrm>
            <a:off x="7443216" y="1298448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8600" y="1452067"/>
            <a:ext cx="2606040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63" name="Text 61"/>
          <p:cNvSpPr/>
          <p:nvPr/>
        </p:nvSpPr>
        <p:spPr>
          <a:xfrm>
            <a:off x="283464" y="1452067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CASH INFLOWS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834640" y="1452067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65" name="Text 63"/>
          <p:cNvSpPr/>
          <p:nvPr/>
        </p:nvSpPr>
        <p:spPr>
          <a:xfrm>
            <a:off x="2834640" y="1452067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207,600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370832" y="1452067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67" name="Text 65"/>
          <p:cNvSpPr/>
          <p:nvPr/>
        </p:nvSpPr>
        <p:spPr>
          <a:xfrm>
            <a:off x="4370832" y="1452067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17,100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907024" y="1452067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69" name="Text 67"/>
          <p:cNvSpPr/>
          <p:nvPr/>
        </p:nvSpPr>
        <p:spPr>
          <a:xfrm>
            <a:off x="5907024" y="1452067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30,400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443216" y="1452067"/>
            <a:ext cx="1517904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1" name="Text 69"/>
          <p:cNvSpPr/>
          <p:nvPr/>
        </p:nvSpPr>
        <p:spPr>
          <a:xfrm>
            <a:off x="7443216" y="1452067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255,100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28600" y="1605686"/>
            <a:ext cx="2606040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3" name="Text 71"/>
          <p:cNvSpPr/>
          <p:nvPr/>
        </p:nvSpPr>
        <p:spPr>
          <a:xfrm>
            <a:off x="283464" y="1605686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— ONE-TIME STARTUP COSTS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834640" y="1605686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5" name="Shape 73"/>
          <p:cNvSpPr/>
          <p:nvPr/>
        </p:nvSpPr>
        <p:spPr>
          <a:xfrm>
            <a:off x="4370832" y="1605686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6" name="Shape 74"/>
          <p:cNvSpPr/>
          <p:nvPr/>
        </p:nvSpPr>
        <p:spPr>
          <a:xfrm>
            <a:off x="5907024" y="1605686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7" name="Shape 75"/>
          <p:cNvSpPr/>
          <p:nvPr/>
        </p:nvSpPr>
        <p:spPr>
          <a:xfrm>
            <a:off x="7443216" y="1605686"/>
            <a:ext cx="1517904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8" name="Shape 76"/>
          <p:cNvSpPr/>
          <p:nvPr/>
        </p:nvSpPr>
        <p:spPr>
          <a:xfrm>
            <a:off x="228600" y="1759306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79" name="Text 77"/>
          <p:cNvSpPr/>
          <p:nvPr/>
        </p:nvSpPr>
        <p:spPr>
          <a:xfrm>
            <a:off x="283464" y="1759306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 — MVP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834640" y="1759306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81" name="Text 79"/>
          <p:cNvSpPr/>
          <p:nvPr/>
        </p:nvSpPr>
        <p:spPr>
          <a:xfrm>
            <a:off x="2834640" y="1759306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55,000)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370832" y="1759306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83" name="Text 81"/>
          <p:cNvSpPr/>
          <p:nvPr/>
        </p:nvSpPr>
        <p:spPr>
          <a:xfrm>
            <a:off x="4370832" y="1759306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907024" y="1759306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85" name="Text 83"/>
          <p:cNvSpPr/>
          <p:nvPr/>
        </p:nvSpPr>
        <p:spPr>
          <a:xfrm>
            <a:off x="5907024" y="1759306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443216" y="1759306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87" name="Text 85"/>
          <p:cNvSpPr/>
          <p:nvPr/>
        </p:nvSpPr>
        <p:spPr>
          <a:xfrm>
            <a:off x="7443216" y="1759306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55,000)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228600" y="1912925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89" name="Text 87"/>
          <p:cNvSpPr/>
          <p:nvPr/>
        </p:nvSpPr>
        <p:spPr>
          <a:xfrm>
            <a:off x="283464" y="1912925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Setup (Equipment &amp; Furniture)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834640" y="1912925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91" name="Text 89"/>
          <p:cNvSpPr/>
          <p:nvPr/>
        </p:nvSpPr>
        <p:spPr>
          <a:xfrm>
            <a:off x="2834640" y="1912925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18,000)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370832" y="1912925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93" name="Text 91"/>
          <p:cNvSpPr/>
          <p:nvPr/>
        </p:nvSpPr>
        <p:spPr>
          <a:xfrm>
            <a:off x="4370832" y="1912925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907024" y="1912925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95" name="Text 93"/>
          <p:cNvSpPr/>
          <p:nvPr/>
        </p:nvSpPr>
        <p:spPr>
          <a:xfrm>
            <a:off x="5907024" y="1912925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443216" y="1912925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97" name="Text 95"/>
          <p:cNvSpPr/>
          <p:nvPr/>
        </p:nvSpPr>
        <p:spPr>
          <a:xfrm>
            <a:off x="7443216" y="1912925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18,000)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228600" y="2066544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99" name="Text 97"/>
          <p:cNvSpPr/>
          <p:nvPr/>
        </p:nvSpPr>
        <p:spPr>
          <a:xfrm>
            <a:off x="283464" y="2066544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NBFIRA / Legal / Compliance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834640" y="206654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01" name="Text 99"/>
          <p:cNvSpPr/>
          <p:nvPr/>
        </p:nvSpPr>
        <p:spPr>
          <a:xfrm>
            <a:off x="2834640" y="206654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12,000)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4370832" y="206654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03" name="Text 101"/>
          <p:cNvSpPr/>
          <p:nvPr/>
        </p:nvSpPr>
        <p:spPr>
          <a:xfrm>
            <a:off x="4370832" y="206654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907024" y="206654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05" name="Text 103"/>
          <p:cNvSpPr/>
          <p:nvPr/>
        </p:nvSpPr>
        <p:spPr>
          <a:xfrm>
            <a:off x="5907024" y="206654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7443216" y="2066544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07" name="Text 105"/>
          <p:cNvSpPr/>
          <p:nvPr/>
        </p:nvSpPr>
        <p:spPr>
          <a:xfrm>
            <a:off x="7443216" y="2066544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12,000)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228600" y="2220163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09" name="Text 107"/>
          <p:cNvSpPr/>
          <p:nvPr/>
        </p:nvSpPr>
        <p:spPr>
          <a:xfrm>
            <a:off x="283464" y="2220163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Branding, Website &amp; Domain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2834640" y="2220163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1" name="Text 109"/>
          <p:cNvSpPr/>
          <p:nvPr/>
        </p:nvSpPr>
        <p:spPr>
          <a:xfrm>
            <a:off x="2834640" y="2220163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5,000)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4370832" y="2220163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3" name="Text 111"/>
          <p:cNvSpPr/>
          <p:nvPr/>
        </p:nvSpPr>
        <p:spPr>
          <a:xfrm>
            <a:off x="4370832" y="2220163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5907024" y="2220163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5" name="Text 113"/>
          <p:cNvSpPr/>
          <p:nvPr/>
        </p:nvSpPr>
        <p:spPr>
          <a:xfrm>
            <a:off x="5907024" y="2220163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7443216" y="2220163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7" name="Text 115"/>
          <p:cNvSpPr/>
          <p:nvPr/>
        </p:nvSpPr>
        <p:spPr>
          <a:xfrm>
            <a:off x="7443216" y="2220163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5,000)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228600" y="2373782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19" name="Text 117"/>
          <p:cNvSpPr/>
          <p:nvPr/>
        </p:nvSpPr>
        <p:spPr>
          <a:xfrm>
            <a:off x="283464" y="2373782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CIPA Registration &amp; Company Docs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2834640" y="2373782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21" name="Text 119"/>
          <p:cNvSpPr/>
          <p:nvPr/>
        </p:nvSpPr>
        <p:spPr>
          <a:xfrm>
            <a:off x="2834640" y="237378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2,500)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370832" y="2373782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23" name="Text 121"/>
          <p:cNvSpPr/>
          <p:nvPr/>
        </p:nvSpPr>
        <p:spPr>
          <a:xfrm>
            <a:off x="4370832" y="237378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907024" y="2373782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25" name="Text 123"/>
          <p:cNvSpPr/>
          <p:nvPr/>
        </p:nvSpPr>
        <p:spPr>
          <a:xfrm>
            <a:off x="5907024" y="237378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7443216" y="2373782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27" name="Text 125"/>
          <p:cNvSpPr/>
          <p:nvPr/>
        </p:nvSpPr>
        <p:spPr>
          <a:xfrm>
            <a:off x="7443216" y="2373782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2,500)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28600" y="2527402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29" name="Text 127"/>
          <p:cNvSpPr/>
          <p:nvPr/>
        </p:nvSpPr>
        <p:spPr>
          <a:xfrm>
            <a:off x="283464" y="2527402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Marketing Campaign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2834640" y="2527402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31" name="Text 129"/>
          <p:cNvSpPr/>
          <p:nvPr/>
        </p:nvSpPr>
        <p:spPr>
          <a:xfrm>
            <a:off x="2834640" y="252740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8,000)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4370832" y="2527402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33" name="Text 131"/>
          <p:cNvSpPr/>
          <p:nvPr/>
        </p:nvSpPr>
        <p:spPr>
          <a:xfrm>
            <a:off x="4370832" y="252740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907024" y="2527402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35" name="Text 133"/>
          <p:cNvSpPr/>
          <p:nvPr/>
        </p:nvSpPr>
        <p:spPr>
          <a:xfrm>
            <a:off x="5907024" y="2527402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7443216" y="2527402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37" name="Text 135"/>
          <p:cNvSpPr/>
          <p:nvPr/>
        </p:nvSpPr>
        <p:spPr>
          <a:xfrm>
            <a:off x="7443216" y="2527402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8,000)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28600" y="2681021"/>
            <a:ext cx="2606040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39" name="Text 137"/>
          <p:cNvSpPr/>
          <p:nvPr/>
        </p:nvSpPr>
        <p:spPr>
          <a:xfrm>
            <a:off x="283464" y="2681021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ONE-TIME COSTS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2834640" y="2681021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41" name="Text 139"/>
          <p:cNvSpPr/>
          <p:nvPr/>
        </p:nvSpPr>
        <p:spPr>
          <a:xfrm>
            <a:off x="2834640" y="2681021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100,500)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4370832" y="2681021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43" name="Text 141"/>
          <p:cNvSpPr/>
          <p:nvPr/>
        </p:nvSpPr>
        <p:spPr>
          <a:xfrm>
            <a:off x="4370832" y="2681021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5907024" y="2681021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45" name="Text 143"/>
          <p:cNvSpPr/>
          <p:nvPr/>
        </p:nvSpPr>
        <p:spPr>
          <a:xfrm>
            <a:off x="5907024" y="2681021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7443216" y="2681021"/>
            <a:ext cx="1517904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47" name="Text 145"/>
          <p:cNvSpPr/>
          <p:nvPr/>
        </p:nvSpPr>
        <p:spPr>
          <a:xfrm>
            <a:off x="7443216" y="2681021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100,500)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228600" y="2834640"/>
            <a:ext cx="2606040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49" name="Text 147"/>
          <p:cNvSpPr/>
          <p:nvPr/>
        </p:nvSpPr>
        <p:spPr>
          <a:xfrm>
            <a:off x="283464" y="2834640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MONTHLY OPERATING EXPENSES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2834640" y="2834640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1" name="Shape 149"/>
          <p:cNvSpPr/>
          <p:nvPr/>
        </p:nvSpPr>
        <p:spPr>
          <a:xfrm>
            <a:off x="4370832" y="2834640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2" name="Shape 150"/>
          <p:cNvSpPr/>
          <p:nvPr/>
        </p:nvSpPr>
        <p:spPr>
          <a:xfrm>
            <a:off x="5907024" y="2834640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3" name="Shape 151"/>
          <p:cNvSpPr/>
          <p:nvPr/>
        </p:nvSpPr>
        <p:spPr>
          <a:xfrm>
            <a:off x="7443216" y="2834640"/>
            <a:ext cx="1517904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4" name="Shape 152"/>
          <p:cNvSpPr/>
          <p:nvPr/>
        </p:nvSpPr>
        <p:spPr>
          <a:xfrm>
            <a:off x="228600" y="2988259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5" name="Text 153"/>
          <p:cNvSpPr/>
          <p:nvPr/>
        </p:nvSpPr>
        <p:spPr>
          <a:xfrm>
            <a:off x="283464" y="2988259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Lease (shared/co-working)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2834640" y="2988259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7" name="Text 155"/>
          <p:cNvSpPr/>
          <p:nvPr/>
        </p:nvSpPr>
        <p:spPr>
          <a:xfrm>
            <a:off x="2834640" y="2988259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3,500)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4370832" y="2988259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59" name="Text 157"/>
          <p:cNvSpPr/>
          <p:nvPr/>
        </p:nvSpPr>
        <p:spPr>
          <a:xfrm>
            <a:off x="4370832" y="2988259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3,500)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5907024" y="2988259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61" name="Text 159"/>
          <p:cNvSpPr/>
          <p:nvPr/>
        </p:nvSpPr>
        <p:spPr>
          <a:xfrm>
            <a:off x="5907024" y="2988259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3,500)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7443216" y="2988259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63" name="Text 161"/>
          <p:cNvSpPr/>
          <p:nvPr/>
        </p:nvSpPr>
        <p:spPr>
          <a:xfrm>
            <a:off x="7443216" y="2988259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10,500)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228600" y="3141878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65" name="Text 163"/>
          <p:cNvSpPr/>
          <p:nvPr/>
        </p:nvSpPr>
        <p:spPr>
          <a:xfrm>
            <a:off x="283464" y="3141878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&amp; Water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2834640" y="314187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67" name="Text 165"/>
          <p:cNvSpPr/>
          <p:nvPr/>
        </p:nvSpPr>
        <p:spPr>
          <a:xfrm>
            <a:off x="2834640" y="314187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800)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4370832" y="314187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69" name="Text 167"/>
          <p:cNvSpPr/>
          <p:nvPr/>
        </p:nvSpPr>
        <p:spPr>
          <a:xfrm>
            <a:off x="4370832" y="314187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800)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5907024" y="314187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71" name="Text 169"/>
          <p:cNvSpPr/>
          <p:nvPr/>
        </p:nvSpPr>
        <p:spPr>
          <a:xfrm>
            <a:off x="5907024" y="314187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800)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7443216" y="3141878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73" name="Text 171"/>
          <p:cNvSpPr/>
          <p:nvPr/>
        </p:nvSpPr>
        <p:spPr>
          <a:xfrm>
            <a:off x="7443216" y="3141878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2,400)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228600" y="3295498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75" name="Text 173"/>
          <p:cNvSpPr/>
          <p:nvPr/>
        </p:nvSpPr>
        <p:spPr>
          <a:xfrm>
            <a:off x="283464" y="3295498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(Business Fibre)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834640" y="329549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77" name="Text 175"/>
          <p:cNvSpPr/>
          <p:nvPr/>
        </p:nvSpPr>
        <p:spPr>
          <a:xfrm>
            <a:off x="2834640" y="329549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1,000)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4370832" y="329549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79" name="Text 177"/>
          <p:cNvSpPr/>
          <p:nvPr/>
        </p:nvSpPr>
        <p:spPr>
          <a:xfrm>
            <a:off x="4370832" y="329549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1,000)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5907024" y="3295498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81" name="Text 179"/>
          <p:cNvSpPr/>
          <p:nvPr/>
        </p:nvSpPr>
        <p:spPr>
          <a:xfrm>
            <a:off x="5907024" y="3295498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1,000)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7443216" y="3295498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83" name="Text 181"/>
          <p:cNvSpPr/>
          <p:nvPr/>
        </p:nvSpPr>
        <p:spPr>
          <a:xfrm>
            <a:off x="7443216" y="3295498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3,000)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228600" y="3449117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85" name="Text 183"/>
          <p:cNvSpPr/>
          <p:nvPr/>
        </p:nvSpPr>
        <p:spPr>
          <a:xfrm>
            <a:off x="283464" y="3449117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Cloud Hosting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2834640" y="3449117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87" name="Text 185"/>
          <p:cNvSpPr/>
          <p:nvPr/>
        </p:nvSpPr>
        <p:spPr>
          <a:xfrm>
            <a:off x="2834640" y="3449117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1,500)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4370832" y="3449117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89" name="Text 187"/>
          <p:cNvSpPr/>
          <p:nvPr/>
        </p:nvSpPr>
        <p:spPr>
          <a:xfrm>
            <a:off x="4370832" y="3449117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1,500)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5907024" y="3449117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91" name="Text 189"/>
          <p:cNvSpPr/>
          <p:nvPr/>
        </p:nvSpPr>
        <p:spPr>
          <a:xfrm>
            <a:off x="5907024" y="3449117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2,000)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7443216" y="3449117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93" name="Text 191"/>
          <p:cNvSpPr/>
          <p:nvPr/>
        </p:nvSpPr>
        <p:spPr>
          <a:xfrm>
            <a:off x="7443216" y="3449117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5,000)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228600" y="3602736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95" name="Text 193"/>
          <p:cNvSpPr/>
          <p:nvPr/>
        </p:nvSpPr>
        <p:spPr>
          <a:xfrm>
            <a:off x="283464" y="3602736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(Social + Google)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2834640" y="3602736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97" name="Text 195"/>
          <p:cNvSpPr/>
          <p:nvPr/>
        </p:nvSpPr>
        <p:spPr>
          <a:xfrm>
            <a:off x="2834640" y="3602736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3,800)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4370832" y="3602736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199" name="Text 197"/>
          <p:cNvSpPr/>
          <p:nvPr/>
        </p:nvSpPr>
        <p:spPr>
          <a:xfrm>
            <a:off x="4370832" y="3602736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3,800)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5907024" y="3602736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01" name="Text 199"/>
          <p:cNvSpPr/>
          <p:nvPr/>
        </p:nvSpPr>
        <p:spPr>
          <a:xfrm>
            <a:off x="5907024" y="3602736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3,800)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7443216" y="3602736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03" name="Text 201"/>
          <p:cNvSpPr/>
          <p:nvPr/>
        </p:nvSpPr>
        <p:spPr>
          <a:xfrm>
            <a:off x="7443216" y="3602736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11,400)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228600" y="3756355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05" name="Text 203"/>
          <p:cNvSpPr/>
          <p:nvPr/>
        </p:nvSpPr>
        <p:spPr>
          <a:xfrm>
            <a:off x="283464" y="3756355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Claims Cost (30% of Rev)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2834640" y="3756355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07" name="Text 205"/>
          <p:cNvSpPr/>
          <p:nvPr/>
        </p:nvSpPr>
        <p:spPr>
          <a:xfrm>
            <a:off x="2834640" y="3756355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2,280)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4370832" y="3756355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09" name="Text 207"/>
          <p:cNvSpPr/>
          <p:nvPr/>
        </p:nvSpPr>
        <p:spPr>
          <a:xfrm>
            <a:off x="4370832" y="3756355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5,130)</a:t>
            </a:r>
            <a:endParaRPr lang="en-US" sz="700" dirty="0"/>
          </a:p>
        </p:txBody>
      </p:sp>
      <p:sp>
        <p:nvSpPr>
          <p:cNvPr id="210" name="Shape 208"/>
          <p:cNvSpPr/>
          <p:nvPr/>
        </p:nvSpPr>
        <p:spPr>
          <a:xfrm>
            <a:off x="5907024" y="3756355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11" name="Text 209"/>
          <p:cNvSpPr/>
          <p:nvPr/>
        </p:nvSpPr>
        <p:spPr>
          <a:xfrm>
            <a:off x="5907024" y="3756355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9,120)</a:t>
            </a:r>
            <a:endParaRPr lang="en-US" sz="700" dirty="0"/>
          </a:p>
        </p:txBody>
      </p:sp>
      <p:sp>
        <p:nvSpPr>
          <p:cNvPr id="212" name="Shape 210"/>
          <p:cNvSpPr/>
          <p:nvPr/>
        </p:nvSpPr>
        <p:spPr>
          <a:xfrm>
            <a:off x="7443216" y="3756355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13" name="Text 211"/>
          <p:cNvSpPr/>
          <p:nvPr/>
        </p:nvSpPr>
        <p:spPr>
          <a:xfrm>
            <a:off x="7443216" y="3756355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16,530)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28600" y="3909974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15" name="Text 213"/>
          <p:cNvSpPr/>
          <p:nvPr/>
        </p:nvSpPr>
        <p:spPr>
          <a:xfrm>
            <a:off x="283464" y="3909974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Interest (P150k @ 7.5% p.a.)</a:t>
            </a:r>
            <a:endParaRPr lang="en-US" sz="700" dirty="0"/>
          </a:p>
        </p:txBody>
      </p:sp>
      <p:sp>
        <p:nvSpPr>
          <p:cNvPr id="216" name="Shape 214"/>
          <p:cNvSpPr/>
          <p:nvPr/>
        </p:nvSpPr>
        <p:spPr>
          <a:xfrm>
            <a:off x="2834640" y="390997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17" name="Text 215"/>
          <p:cNvSpPr/>
          <p:nvPr/>
        </p:nvSpPr>
        <p:spPr>
          <a:xfrm>
            <a:off x="2834640" y="390997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938)</a:t>
            </a:r>
            <a:endParaRPr lang="en-US" sz="700" dirty="0"/>
          </a:p>
        </p:txBody>
      </p:sp>
      <p:sp>
        <p:nvSpPr>
          <p:cNvPr id="218" name="Shape 216"/>
          <p:cNvSpPr/>
          <p:nvPr/>
        </p:nvSpPr>
        <p:spPr>
          <a:xfrm>
            <a:off x="4370832" y="390997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19" name="Text 217"/>
          <p:cNvSpPr/>
          <p:nvPr/>
        </p:nvSpPr>
        <p:spPr>
          <a:xfrm>
            <a:off x="4370832" y="390997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938)</a:t>
            </a:r>
            <a:endParaRPr lang="en-US" sz="700" dirty="0"/>
          </a:p>
        </p:txBody>
      </p:sp>
      <p:sp>
        <p:nvSpPr>
          <p:cNvPr id="220" name="Shape 218"/>
          <p:cNvSpPr/>
          <p:nvPr/>
        </p:nvSpPr>
        <p:spPr>
          <a:xfrm>
            <a:off x="5907024" y="390997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21" name="Text 219"/>
          <p:cNvSpPr/>
          <p:nvPr/>
        </p:nvSpPr>
        <p:spPr>
          <a:xfrm>
            <a:off x="5907024" y="390997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938)</a:t>
            </a:r>
            <a:endParaRPr lang="en-US" sz="700" dirty="0"/>
          </a:p>
        </p:txBody>
      </p:sp>
      <p:sp>
        <p:nvSpPr>
          <p:cNvPr id="222" name="Shape 220"/>
          <p:cNvSpPr/>
          <p:nvPr/>
        </p:nvSpPr>
        <p:spPr>
          <a:xfrm>
            <a:off x="7443216" y="3909974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23" name="Text 221"/>
          <p:cNvSpPr/>
          <p:nvPr/>
        </p:nvSpPr>
        <p:spPr>
          <a:xfrm>
            <a:off x="7443216" y="3909974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2,814)</a:t>
            </a:r>
            <a:endParaRPr lang="en-US" sz="700" dirty="0"/>
          </a:p>
        </p:txBody>
      </p:sp>
      <p:sp>
        <p:nvSpPr>
          <p:cNvPr id="224" name="Shape 222"/>
          <p:cNvSpPr/>
          <p:nvPr/>
        </p:nvSpPr>
        <p:spPr>
          <a:xfrm>
            <a:off x="228600" y="4063594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25" name="Text 223"/>
          <p:cNvSpPr/>
          <p:nvPr/>
        </p:nvSpPr>
        <p:spPr>
          <a:xfrm>
            <a:off x="283464" y="4063594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Stipends x6 (Month 3 only)</a:t>
            </a:r>
            <a:endParaRPr lang="en-US" sz="700" dirty="0"/>
          </a:p>
        </p:txBody>
      </p:sp>
      <p:sp>
        <p:nvSpPr>
          <p:cNvPr id="226" name="Shape 224"/>
          <p:cNvSpPr/>
          <p:nvPr/>
        </p:nvSpPr>
        <p:spPr>
          <a:xfrm>
            <a:off x="2834640" y="406359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27" name="Text 225"/>
          <p:cNvSpPr/>
          <p:nvPr/>
        </p:nvSpPr>
        <p:spPr>
          <a:xfrm>
            <a:off x="2834640" y="406359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228" name="Shape 226"/>
          <p:cNvSpPr/>
          <p:nvPr/>
        </p:nvSpPr>
        <p:spPr>
          <a:xfrm>
            <a:off x="4370832" y="406359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29" name="Text 227"/>
          <p:cNvSpPr/>
          <p:nvPr/>
        </p:nvSpPr>
        <p:spPr>
          <a:xfrm>
            <a:off x="4370832" y="406359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</a:t>
            </a:r>
            <a:endParaRPr lang="en-US" sz="700" dirty="0"/>
          </a:p>
        </p:txBody>
      </p:sp>
      <p:sp>
        <p:nvSpPr>
          <p:cNvPr id="230" name="Shape 228"/>
          <p:cNvSpPr/>
          <p:nvPr/>
        </p:nvSpPr>
        <p:spPr>
          <a:xfrm>
            <a:off x="5907024" y="4063594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31" name="Text 229"/>
          <p:cNvSpPr/>
          <p:nvPr/>
        </p:nvSpPr>
        <p:spPr>
          <a:xfrm>
            <a:off x="5907024" y="4063594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12,000)</a:t>
            </a:r>
            <a:endParaRPr lang="en-US" sz="700" dirty="0"/>
          </a:p>
        </p:txBody>
      </p:sp>
      <p:sp>
        <p:nvSpPr>
          <p:cNvPr id="232" name="Shape 230"/>
          <p:cNvSpPr/>
          <p:nvPr/>
        </p:nvSpPr>
        <p:spPr>
          <a:xfrm>
            <a:off x="7443216" y="4063594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33" name="Text 231"/>
          <p:cNvSpPr/>
          <p:nvPr/>
        </p:nvSpPr>
        <p:spPr>
          <a:xfrm>
            <a:off x="7443216" y="4063594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12,000)</a:t>
            </a:r>
            <a:endParaRPr lang="en-US" sz="700" dirty="0"/>
          </a:p>
        </p:txBody>
      </p:sp>
      <p:sp>
        <p:nvSpPr>
          <p:cNvPr id="234" name="Shape 232"/>
          <p:cNvSpPr/>
          <p:nvPr/>
        </p:nvSpPr>
        <p:spPr>
          <a:xfrm>
            <a:off x="228600" y="4217213"/>
            <a:ext cx="2606040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35" name="Text 233"/>
          <p:cNvSpPr/>
          <p:nvPr/>
        </p:nvSpPr>
        <p:spPr>
          <a:xfrm>
            <a:off x="283464" y="4217213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OPEX</a:t>
            </a:r>
            <a:endParaRPr lang="en-US" sz="700" dirty="0"/>
          </a:p>
        </p:txBody>
      </p:sp>
      <p:sp>
        <p:nvSpPr>
          <p:cNvPr id="236" name="Shape 234"/>
          <p:cNvSpPr/>
          <p:nvPr/>
        </p:nvSpPr>
        <p:spPr>
          <a:xfrm>
            <a:off x="2834640" y="4217213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37" name="Text 235"/>
          <p:cNvSpPr/>
          <p:nvPr/>
        </p:nvSpPr>
        <p:spPr>
          <a:xfrm>
            <a:off x="2834640" y="4217213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16,118)</a:t>
            </a:r>
            <a:endParaRPr lang="en-US" sz="700" dirty="0"/>
          </a:p>
        </p:txBody>
      </p:sp>
      <p:sp>
        <p:nvSpPr>
          <p:cNvPr id="238" name="Shape 236"/>
          <p:cNvSpPr/>
          <p:nvPr/>
        </p:nvSpPr>
        <p:spPr>
          <a:xfrm>
            <a:off x="4370832" y="4217213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39" name="Text 237"/>
          <p:cNvSpPr/>
          <p:nvPr/>
        </p:nvSpPr>
        <p:spPr>
          <a:xfrm>
            <a:off x="4370832" y="4217213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18,968)</a:t>
            </a:r>
            <a:endParaRPr lang="en-US" sz="700" dirty="0"/>
          </a:p>
        </p:txBody>
      </p:sp>
      <p:sp>
        <p:nvSpPr>
          <p:cNvPr id="240" name="Shape 238"/>
          <p:cNvSpPr/>
          <p:nvPr/>
        </p:nvSpPr>
        <p:spPr>
          <a:xfrm>
            <a:off x="5907024" y="4217213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41" name="Text 239"/>
          <p:cNvSpPr/>
          <p:nvPr/>
        </p:nvSpPr>
        <p:spPr>
          <a:xfrm>
            <a:off x="5907024" y="4217213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34,458)</a:t>
            </a:r>
            <a:endParaRPr lang="en-US" sz="700" dirty="0"/>
          </a:p>
        </p:txBody>
      </p:sp>
      <p:sp>
        <p:nvSpPr>
          <p:cNvPr id="242" name="Shape 240"/>
          <p:cNvSpPr/>
          <p:nvPr/>
        </p:nvSpPr>
        <p:spPr>
          <a:xfrm>
            <a:off x="7443216" y="4217213"/>
            <a:ext cx="1517904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43" name="Text 241"/>
          <p:cNvSpPr/>
          <p:nvPr/>
        </p:nvSpPr>
        <p:spPr>
          <a:xfrm>
            <a:off x="7443216" y="4217213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69,544)</a:t>
            </a:r>
            <a:endParaRPr lang="en-US" sz="700" dirty="0"/>
          </a:p>
        </p:txBody>
      </p:sp>
      <p:sp>
        <p:nvSpPr>
          <p:cNvPr id="244" name="Shape 242"/>
          <p:cNvSpPr/>
          <p:nvPr/>
        </p:nvSpPr>
        <p:spPr>
          <a:xfrm>
            <a:off x="228600" y="4370832"/>
            <a:ext cx="2606040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45" name="Text 243"/>
          <p:cNvSpPr/>
          <p:nvPr/>
        </p:nvSpPr>
        <p:spPr>
          <a:xfrm>
            <a:off x="283464" y="4370832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NET CASH POSITION</a:t>
            </a:r>
            <a:endParaRPr lang="en-US" sz="700" dirty="0"/>
          </a:p>
        </p:txBody>
      </p:sp>
      <p:sp>
        <p:nvSpPr>
          <p:cNvPr id="246" name="Shape 244"/>
          <p:cNvSpPr/>
          <p:nvPr/>
        </p:nvSpPr>
        <p:spPr>
          <a:xfrm>
            <a:off x="2834640" y="4370832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47" name="Shape 245"/>
          <p:cNvSpPr/>
          <p:nvPr/>
        </p:nvSpPr>
        <p:spPr>
          <a:xfrm>
            <a:off x="4370832" y="4370832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48" name="Shape 246"/>
          <p:cNvSpPr/>
          <p:nvPr/>
        </p:nvSpPr>
        <p:spPr>
          <a:xfrm>
            <a:off x="5907024" y="4370832"/>
            <a:ext cx="1536192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49" name="Shape 247"/>
          <p:cNvSpPr/>
          <p:nvPr/>
        </p:nvSpPr>
        <p:spPr>
          <a:xfrm>
            <a:off x="7443216" y="4370832"/>
            <a:ext cx="1517904" cy="153619"/>
          </a:xfrm>
          <a:prstGeom prst="rect">
            <a:avLst/>
          </a:prstGeom>
          <a:solidFill>
            <a:srgbClr val="1A2E44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50" name="Shape 248"/>
          <p:cNvSpPr/>
          <p:nvPr/>
        </p:nvSpPr>
        <p:spPr>
          <a:xfrm>
            <a:off x="228600" y="4524451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51" name="Text 249"/>
          <p:cNvSpPr/>
          <p:nvPr/>
        </p:nvSpPr>
        <p:spPr>
          <a:xfrm>
            <a:off x="283464" y="4524451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Cash Balance</a:t>
            </a:r>
            <a:endParaRPr lang="en-US" sz="700" dirty="0"/>
          </a:p>
        </p:txBody>
      </p:sp>
      <p:sp>
        <p:nvSpPr>
          <p:cNvPr id="252" name="Shape 250"/>
          <p:cNvSpPr/>
          <p:nvPr/>
        </p:nvSpPr>
        <p:spPr>
          <a:xfrm>
            <a:off x="2834640" y="4524451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53" name="Text 251"/>
          <p:cNvSpPr/>
          <p:nvPr/>
        </p:nvSpPr>
        <p:spPr>
          <a:xfrm>
            <a:off x="2834640" y="4524451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0</a:t>
            </a:r>
            <a:endParaRPr lang="en-US" sz="700" dirty="0"/>
          </a:p>
        </p:txBody>
      </p:sp>
      <p:sp>
        <p:nvSpPr>
          <p:cNvPr id="254" name="Shape 252"/>
          <p:cNvSpPr/>
          <p:nvPr/>
        </p:nvSpPr>
        <p:spPr>
          <a:xfrm>
            <a:off x="4370832" y="4524451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55" name="Text 253"/>
          <p:cNvSpPr/>
          <p:nvPr/>
        </p:nvSpPr>
        <p:spPr>
          <a:xfrm>
            <a:off x="4370832" y="4524451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90,982</a:t>
            </a:r>
            <a:endParaRPr lang="en-US" sz="700" dirty="0"/>
          </a:p>
        </p:txBody>
      </p:sp>
      <p:sp>
        <p:nvSpPr>
          <p:cNvPr id="256" name="Shape 254"/>
          <p:cNvSpPr/>
          <p:nvPr/>
        </p:nvSpPr>
        <p:spPr>
          <a:xfrm>
            <a:off x="5907024" y="4524451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57" name="Text 255"/>
          <p:cNvSpPr/>
          <p:nvPr/>
        </p:nvSpPr>
        <p:spPr>
          <a:xfrm>
            <a:off x="5907024" y="4524451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89,114</a:t>
            </a:r>
            <a:endParaRPr lang="en-US" sz="700" dirty="0"/>
          </a:p>
        </p:txBody>
      </p:sp>
      <p:sp>
        <p:nvSpPr>
          <p:cNvPr id="258" name="Shape 256"/>
          <p:cNvSpPr/>
          <p:nvPr/>
        </p:nvSpPr>
        <p:spPr>
          <a:xfrm>
            <a:off x="7443216" y="4524451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59" name="Text 257"/>
          <p:cNvSpPr/>
          <p:nvPr/>
        </p:nvSpPr>
        <p:spPr>
          <a:xfrm>
            <a:off x="7443216" y="4524451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260" name="Shape 258"/>
          <p:cNvSpPr/>
          <p:nvPr/>
        </p:nvSpPr>
        <p:spPr>
          <a:xfrm>
            <a:off x="228600" y="4678070"/>
            <a:ext cx="2606040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61" name="Text 259"/>
          <p:cNvSpPr/>
          <p:nvPr/>
        </p:nvSpPr>
        <p:spPr>
          <a:xfrm>
            <a:off x="283464" y="4678070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Movement</a:t>
            </a:r>
            <a:endParaRPr lang="en-US" sz="700" dirty="0"/>
          </a:p>
        </p:txBody>
      </p:sp>
      <p:sp>
        <p:nvSpPr>
          <p:cNvPr id="262" name="Shape 260"/>
          <p:cNvSpPr/>
          <p:nvPr/>
        </p:nvSpPr>
        <p:spPr>
          <a:xfrm>
            <a:off x="2834640" y="467807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63" name="Text 261"/>
          <p:cNvSpPr/>
          <p:nvPr/>
        </p:nvSpPr>
        <p:spPr>
          <a:xfrm>
            <a:off x="2834640" y="467807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90,982</a:t>
            </a:r>
            <a:endParaRPr lang="en-US" sz="700" dirty="0"/>
          </a:p>
        </p:txBody>
      </p:sp>
      <p:sp>
        <p:nvSpPr>
          <p:cNvPr id="264" name="Shape 262"/>
          <p:cNvSpPr/>
          <p:nvPr/>
        </p:nvSpPr>
        <p:spPr>
          <a:xfrm>
            <a:off x="4370832" y="467807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65" name="Text 263"/>
          <p:cNvSpPr/>
          <p:nvPr/>
        </p:nvSpPr>
        <p:spPr>
          <a:xfrm>
            <a:off x="4370832" y="467807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1,868)</a:t>
            </a:r>
            <a:endParaRPr lang="en-US" sz="700" dirty="0"/>
          </a:p>
        </p:txBody>
      </p:sp>
      <p:sp>
        <p:nvSpPr>
          <p:cNvPr id="266" name="Shape 264"/>
          <p:cNvSpPr/>
          <p:nvPr/>
        </p:nvSpPr>
        <p:spPr>
          <a:xfrm>
            <a:off x="5907024" y="4678070"/>
            <a:ext cx="1536192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67" name="Text 265"/>
          <p:cNvSpPr/>
          <p:nvPr/>
        </p:nvSpPr>
        <p:spPr>
          <a:xfrm>
            <a:off x="5907024" y="467807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4,058)</a:t>
            </a:r>
            <a:endParaRPr lang="en-US" sz="700" dirty="0"/>
          </a:p>
        </p:txBody>
      </p:sp>
      <p:sp>
        <p:nvSpPr>
          <p:cNvPr id="268" name="Shape 266"/>
          <p:cNvSpPr/>
          <p:nvPr/>
        </p:nvSpPr>
        <p:spPr>
          <a:xfrm>
            <a:off x="7443216" y="4678070"/>
            <a:ext cx="1517904" cy="153619"/>
          </a:xfrm>
          <a:prstGeom prst="rect">
            <a:avLst/>
          </a:prstGeom>
          <a:solidFill>
            <a:srgbClr val="EEF0F5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69" name="Text 267"/>
          <p:cNvSpPr/>
          <p:nvPr/>
        </p:nvSpPr>
        <p:spPr>
          <a:xfrm>
            <a:off x="7443216" y="4678070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85,056</a:t>
            </a:r>
            <a:endParaRPr lang="en-US" sz="700" dirty="0"/>
          </a:p>
        </p:txBody>
      </p:sp>
      <p:sp>
        <p:nvSpPr>
          <p:cNvPr id="270" name="Shape 268"/>
          <p:cNvSpPr/>
          <p:nvPr/>
        </p:nvSpPr>
        <p:spPr>
          <a:xfrm>
            <a:off x="228600" y="4831690"/>
            <a:ext cx="2606040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71" name="Text 269"/>
          <p:cNvSpPr/>
          <p:nvPr/>
        </p:nvSpPr>
        <p:spPr>
          <a:xfrm>
            <a:off x="283464" y="4831690"/>
            <a:ext cx="25328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CASH BALANCE</a:t>
            </a:r>
            <a:endParaRPr lang="en-US" sz="700" dirty="0"/>
          </a:p>
        </p:txBody>
      </p:sp>
      <p:sp>
        <p:nvSpPr>
          <p:cNvPr id="272" name="Shape 270"/>
          <p:cNvSpPr/>
          <p:nvPr/>
        </p:nvSpPr>
        <p:spPr>
          <a:xfrm>
            <a:off x="2834640" y="4831690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73" name="Text 271"/>
          <p:cNvSpPr/>
          <p:nvPr/>
        </p:nvSpPr>
        <p:spPr>
          <a:xfrm>
            <a:off x="2834640" y="483169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90,982</a:t>
            </a:r>
            <a:endParaRPr lang="en-US" sz="700" dirty="0"/>
          </a:p>
        </p:txBody>
      </p:sp>
      <p:sp>
        <p:nvSpPr>
          <p:cNvPr id="274" name="Shape 272"/>
          <p:cNvSpPr/>
          <p:nvPr/>
        </p:nvSpPr>
        <p:spPr>
          <a:xfrm>
            <a:off x="4370832" y="4831690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75" name="Text 273"/>
          <p:cNvSpPr/>
          <p:nvPr/>
        </p:nvSpPr>
        <p:spPr>
          <a:xfrm>
            <a:off x="4370832" y="483169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89,114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5907024" y="4831690"/>
            <a:ext cx="1536192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77" name="Text 275"/>
          <p:cNvSpPr/>
          <p:nvPr/>
        </p:nvSpPr>
        <p:spPr>
          <a:xfrm>
            <a:off x="5907024" y="4831690"/>
            <a:ext cx="153619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85,056</a:t>
            </a:r>
            <a:endParaRPr lang="en-US" sz="700" dirty="0"/>
          </a:p>
        </p:txBody>
      </p:sp>
      <p:sp>
        <p:nvSpPr>
          <p:cNvPr id="278" name="Shape 276"/>
          <p:cNvSpPr/>
          <p:nvPr/>
        </p:nvSpPr>
        <p:spPr>
          <a:xfrm>
            <a:off x="7443216" y="4831690"/>
            <a:ext cx="1517904" cy="153619"/>
          </a:xfrm>
          <a:prstGeom prst="rect">
            <a:avLst/>
          </a:prstGeom>
          <a:solidFill>
            <a:srgbClr val="EAE0C8"/>
          </a:solidFill>
          <a:ln w="3810">
            <a:solidFill>
              <a:srgbClr val="D0D4DC"/>
            </a:solidFill>
            <a:prstDash val="solid"/>
          </a:ln>
        </p:spPr>
        <p:txBody>
          <a:bodyPr/>
          <a:lstStyle/>
          <a:p>
            <a:endParaRPr lang="en-BW"/>
          </a:p>
        </p:txBody>
      </p:sp>
      <p:sp>
        <p:nvSpPr>
          <p:cNvPr id="279" name="Text 277"/>
          <p:cNvSpPr/>
          <p:nvPr/>
        </p:nvSpPr>
        <p:spPr>
          <a:xfrm>
            <a:off x="7443216" y="4831690"/>
            <a:ext cx="1517904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85,056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5" name="Text 3"/>
          <p:cNvSpPr/>
          <p:nvPr/>
        </p:nvSpPr>
        <p:spPr>
          <a:xfrm>
            <a:off x="274320" y="274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5661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P200,000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274320" y="2231136"/>
            <a:ext cx="3566160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9" name="Text 7"/>
          <p:cNvSpPr/>
          <p:nvPr/>
        </p:nvSpPr>
        <p:spPr>
          <a:xfrm>
            <a:off x="402336" y="223113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P150,000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9616" y="223113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 Development Loan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761488"/>
            <a:ext cx="3566160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2" name="Text 10"/>
          <p:cNvSpPr/>
          <p:nvPr/>
        </p:nvSpPr>
        <p:spPr>
          <a:xfrm>
            <a:off x="402336" y="27614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P50,000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99616" y="27614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Equity Contribution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3364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App Dev  |  Legal  |  Office Setup  |  Launch Marketing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251960"/>
            <a:ext cx="356616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6" name="Shape 14"/>
          <p:cNvSpPr/>
          <p:nvPr/>
        </p:nvSpPr>
        <p:spPr>
          <a:xfrm>
            <a:off x="274320" y="4251960"/>
            <a:ext cx="35661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17" name="Text 15"/>
          <p:cNvSpPr/>
          <p:nvPr/>
        </p:nvSpPr>
        <p:spPr>
          <a:xfrm>
            <a:off x="402336" y="4279392"/>
            <a:ext cx="3346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Hexacore@org.co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+267 79 221 214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54351 Unit 4, Fairgrounds Office Park, Gaborone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 BY 2036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0" y="512064"/>
            <a:ext cx="44805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0" name="Text 18"/>
          <p:cNvSpPr/>
          <p:nvPr/>
        </p:nvSpPr>
        <p:spPr>
          <a:xfrm>
            <a:off x="4389120" y="585216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Botswana's most trusted provider of device protection and digital security services — safeguarding the digital infrastructure of every household, student and SME by 2036.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15179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INVESTMENT ACHIEVES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89120" y="1819656"/>
            <a:ext cx="164592" cy="182880"/>
          </a:xfrm>
          <a:prstGeom prst="rect">
            <a:avLst/>
          </a:prstGeom>
          <a:solidFill>
            <a:srgbClr val="E8C97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3" name="Text 21"/>
          <p:cNvSpPr/>
          <p:nvPr/>
        </p:nvSpPr>
        <p:spPr>
          <a:xfrm>
            <a:off x="4626864" y="1737360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subscribers and P1.14M revenue by end of Year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2331720"/>
            <a:ext cx="164592" cy="182880"/>
          </a:xfrm>
          <a:prstGeom prst="rect">
            <a:avLst/>
          </a:prstGeom>
          <a:solidFill>
            <a:srgbClr val="E8C97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5" name="Text 23"/>
          <p:cNvSpPr/>
          <p:nvPr/>
        </p:nvSpPr>
        <p:spPr>
          <a:xfrm>
            <a:off x="4626864" y="2249424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 to Francistown &amp; Maun in Year 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2843784"/>
            <a:ext cx="164592" cy="182880"/>
          </a:xfrm>
          <a:prstGeom prst="rect">
            <a:avLst/>
          </a:prstGeom>
          <a:solidFill>
            <a:srgbClr val="E8C97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7" name="Text 25"/>
          <p:cNvSpPr/>
          <p:nvPr/>
        </p:nvSpPr>
        <p:spPr>
          <a:xfrm>
            <a:off x="4626864" y="2761488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subscribers and P14.4M revenue by Year 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3355848"/>
            <a:ext cx="164592" cy="182880"/>
          </a:xfrm>
          <a:prstGeom prst="rect">
            <a:avLst/>
          </a:prstGeom>
          <a:solidFill>
            <a:srgbClr val="E8C97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29" name="Text 27"/>
          <p:cNvSpPr/>
          <p:nvPr/>
        </p:nvSpPr>
        <p:spPr>
          <a:xfrm>
            <a:off x="4626864" y="3273552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&amp; full NBFIRA certification by Year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3867912"/>
            <a:ext cx="164592" cy="182880"/>
          </a:xfrm>
          <a:prstGeom prst="rect">
            <a:avLst/>
          </a:prstGeom>
          <a:solidFill>
            <a:srgbClr val="E8C97A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1" name="Text 29"/>
          <p:cNvSpPr/>
          <p:nvPr/>
        </p:nvSpPr>
        <p:spPr>
          <a:xfrm>
            <a:off x="4626864" y="3785616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full-time jobs created in Gaborone's ICT sector by Year 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4315968"/>
            <a:ext cx="4480560" cy="6400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BW"/>
          </a:p>
        </p:txBody>
      </p:sp>
      <p:sp>
        <p:nvSpPr>
          <p:cNvPr id="33" name="Text 31"/>
          <p:cNvSpPr/>
          <p:nvPr/>
        </p:nvSpPr>
        <p:spPr>
          <a:xfrm>
            <a:off x="4526280" y="43159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Botswana's digital future needs protection.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 is how we deliver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1586</Words>
  <Application>Microsoft Office PowerPoint</Application>
  <PresentationFormat>On-screen Show (16:9)</PresentationFormat>
  <Paragraphs>370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Hexacore Solutions — Device Shield Pitch Deck</dc:title>
  <dc:subject>PptxGenJS Presentation</dc:subject>
  <dc:creator>PptxGenJS</dc:creator>
  <cp:lastModifiedBy>Katlo Tutwane</cp:lastModifiedBy>
  <cp:revision>1</cp:revision>
  <dcterms:created xsi:type="dcterms:W3CDTF">2026-05-27T10:21:09Z</dcterms:created>
  <dcterms:modified xsi:type="dcterms:W3CDTF">2026-05-27T10:28:48Z</dcterms:modified>
</cp:coreProperties>
</file>