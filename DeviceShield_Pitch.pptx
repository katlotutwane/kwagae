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(BWP)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1140000</c:v>
                </c:pt>
                <c:pt idx="1">
                  <c:v>2280000</c:v>
                </c:pt>
                <c:pt idx="2">
                  <c:v>14400000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P&quot;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Device Shield by Hexacore Solutions is an InsurTech startup filling Botswana's critical device protection gap. This deck walks through the problem, our solution, market size, business model, go-to-market strategy, competitive advantage, financial projections, and our investment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Botswana has 81.4% internet penetration and 2.9M mobile subscribers, yet insurance penetration is only 3.3% of GDP. Devices cost up to 4x the monthly wage with no affordable, all-inclusive protection available. This is the gap we are filling.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 Shield solves the problem through three pillars: physical protection (repair, replacement), cybersecurity (anti-malware, VPN, remote wipe), and IT support. Delivered 100% digitally via mobile app and web portal, with plans from P50/month.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 from P50-P280/month. Shield Standard (P120) is our flagship, expected highest volume. Shield Business (P280) targets SMEs with multi-device cover and a dedicated account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is P3.3B/yr (2.9M subscribers). SAM is P496M (435K urban users). Our Year 3 SOM is P14.4M with 10,000 subscribers — a conservative but achievable target reflecting current mobile adoption trends in Botswana.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comes from monthly subscriptions (P50-P280). BIHL underwrites physical claims, protecting our margins. Blended average is P95/subscriber/month. All plans are mobile-money compatible — zero friction to sign up for our target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marketing spend is under P7,000 in Year 1 — lean and measurable. We project break-even by Month 4 and 1,200 active subscribers by end of Year 1. National expansion to Francistown and Maun in Year 2 targets 10,000 total subscribers and P14.4M annual revenue by Year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in Botswana bundles physical protection, cybersecurity, and IT support in a single subscription. Alpha Direct has no theft cover and uses offline processes. Repair shops are pay-per-use with no security features. AppleCare is USD-priced and inaccessible to most Batswana. We close all three gaps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Startup funding: P200K (P150K CEDA loan + P50K founder equity). Total one-time costs: P100,500. Break-even at Month 4 with ~263 active subscribers. Year 1 revenue: P1.14M (1,200 subscribers). Year 2: P2.28M. Year 3: P14.4M with 10,000 subscribers after national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seek P200,000: P150K via CEDA loan and P50K founder equity, covering app development, legal compliance, office setup and launch marketing. Break-even by Month 4. 10,000 subscribers and P14.4M revenue by Year 3. Thank you — we welcome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804672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7863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</a:rPr>
              <a:t>DEVICE SHIELD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44168" y="13075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</a:rPr>
              <a:t>by Hexacore Solutions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CFBF1"/>
                </a:solidFill>
              </a:rPr>
              <a:t>Protect Your Device. Protect Your Life.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02920" y="2560320"/>
            <a:ext cx="795528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70662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Botswana's First All-In-One Device Protection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Physical Insurance  |  Cybersecurity Tools  |  IT Support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2514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3364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P50/mo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02920" y="3822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Plans From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3337560"/>
            <a:ext cx="2514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91840" y="3364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2.9M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291840" y="3822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Market Subscribers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337560"/>
            <a:ext cx="2514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3364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P200K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080760" y="3822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Funding Ask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446227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Presented by: Kaelo Selome (CEO)  |  Katlo Tutwane (CFO)  |  Hexacore Team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4944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81.4%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Internet Penetration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423160" y="114300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2.9M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42316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Mobile Subscribers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26280" y="114300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2628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Insurance % of GDP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29400" y="1143000"/>
            <a:ext cx="19202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P30K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2940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Cost of Flagship Device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2377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WHY THIS GAP IS CRITICAL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2578608"/>
            <a:ext cx="8503920" cy="23317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</a:rPr>
              <a:t>Most device owners in Botswana have ZERO financial protection against theft, damage, or loss.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Flagship devices cost up to P30,000 — multiples of the average monthly wage of P7,462.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Existing products exclude theft &amp; loss, rely on offline processes, or are priced in USD.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</a:rPr>
              <a:t>2.9 million mobile subscribers remain critically underserved — a gap Device Shield is built to fill.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Our Solution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1051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9488"/>
                </a:solidFill>
              </a:rPr>
              <a:t>One subscription. Total protection.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14630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Device Shield by Hexacore Solutions is a subscription-based digital platform bundling physical device protection, cybersecurity tools, and IT support into one affordable monthly plan — from just P50/month.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22860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53896" y="2423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472" y="2459736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2962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Physical Protection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29768" y="336499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Screen repair, theft cover and device replacement — underwritten by BIHL (NBFIRA licensed).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46120" y="22860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79976" y="2423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552" y="2459736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2962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Cybersecurity Tools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55848" y="336499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Anti-malware, VPN, remote wipe and cloud backup — full digital security in one plan.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72200" y="228600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06056" y="242316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632" y="2459736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72200" y="2962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IT Support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81928" y="3364992"/>
            <a:ext cx="252374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4-hour response guarantee; dedicated account manager for Shield Business subscribers.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&amp; Service Tiers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10058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92608" y="10424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SHIELD BASIC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2608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P50/mo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92608" y="195681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Students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6616" y="2286000"/>
            <a:ext cx="177393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3774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Screen repair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27614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Device registration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31455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IMEI tracking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04872" y="1005840"/>
            <a:ext cx="2029968" cy="3886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04872" y="1005840"/>
            <a:ext cx="202996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2404872" y="10058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468880" y="131673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SHIELD STANDARD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468880" y="173736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P120/mo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468880" y="223113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FBF1"/>
                </a:solidFill>
              </a:rPr>
              <a:t>Young Professionals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532888" y="2560320"/>
            <a:ext cx="1773936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96312" y="265176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Theft coverage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496312" y="303580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Anti-malware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496312" y="341985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4-hr IT support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496312" y="380390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Basic features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81144" y="10058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45152" y="10424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SHIELD PREMIUM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45152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P200/mo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645152" y="195681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Power Users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09160" y="2286000"/>
            <a:ext cx="177393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72584" y="23774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VPN + cloud backup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672584" y="27614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Remote wipe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672584" y="31455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Laptop coverage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672584" y="3529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 Standard features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757416" y="10058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821424" y="104241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SHIELD BUSINESS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821424" y="146304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P280/mo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821424" y="195681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SMEs (up to 5 devices)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885432" y="2286000"/>
            <a:ext cx="177393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23774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5-device cover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848856" y="27614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Dedicated manager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848856" y="31455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Monthly IT audit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848856" y="3529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All Premium features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Opportunity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MARKET SIZING  —  TAM / SAM / SOM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225296"/>
            <a:ext cx="8503920" cy="3840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438912" y="1225296"/>
            <a:ext cx="8266176" cy="38404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TAM: P3.3B/yr  —  Total Addressable Market  —  2.9M mobile subscribers (all Botswana)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8503920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664208"/>
            <a:ext cx="8266176" cy="38404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</a:rPr>
              <a:t>SAM: P496M/yr  —  Serviceable Addressable Market  —  ~435K urban smartphone users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103120"/>
            <a:ext cx="8503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" y="2103120"/>
            <a:ext cx="8266176" cy="384048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SOM: P14.4M/yr  —  10,000 subscribers by Year 3  (conservative, achievable target)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2606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TARGET CUSTOMER SEGMENTS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7889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53896" y="287121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472" y="29077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" y="3419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Students &amp; Young Professionals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1480" y="3822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Ages 18-35  |  UB, BIUST, BCA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Mobile-first  |  Cannot afford device replacement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27832" y="27889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61688" y="287121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8264" y="290779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319272" y="3419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Families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319272" y="3822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Ages 30-50  |  2-4 devices per 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Risk-aware  |  Need simple digital claims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35624" y="27889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269480" y="287121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6056" y="290779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27064" y="34198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Small Businesses (SMEs)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227064" y="38221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1-20 employees  |  Device-dependent 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IT budget  |  Downtime = revenue loss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Model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REVENUE FLOW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2344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1.  Customer subscribes via app or web portal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1801368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947672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" y="19476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2.  Monthly premium collected (mobile money or card)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0" y="2514600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660904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26609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3.  Claims processed through BIHL underwriting partner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0" y="3227832"/>
            <a:ext cx="0" cy="14630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3374136"/>
            <a:ext cx="3931920" cy="56692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20040" y="33741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 Net subscription revenue retained by Device Shield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4315968"/>
            <a:ext cx="3931920" cy="54864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4315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Blended Average Premium: P95 / subscriber / month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PRICING TIERS &amp; REVENUE STREAMS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0" y="1261872"/>
            <a:ext cx="42519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81728" y="126187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Shield Basic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56248" y="1261872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P50/mo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54112" y="1261872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Students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0" y="1883664"/>
            <a:ext cx="4251960" cy="52120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81728" y="1883664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Shield Standard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56248" y="1883664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P120/mo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754112" y="1883664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FBF1"/>
                </a:solidFill>
              </a:rPr>
              <a:t>Professionals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0" y="2505456"/>
            <a:ext cx="42519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681728" y="2505456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Shield Premium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56248" y="250545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P200/mo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754112" y="250545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 Users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0" y="3127248"/>
            <a:ext cx="425196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681728" y="3127248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Shield Business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556248" y="3127248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P280/mo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754112" y="3127248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SMEs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0" y="4681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Payments: Orange Money  |  MyZaka  |  Mascom MyMoney  |  Card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Marketing &amp; Growth Strategy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ACQUISITION CHANNELS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5349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Facebook &amp; Instagram Ads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18688" y="1234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P2,500/mo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25696" y="12344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80-120 leads/mo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1892808"/>
            <a:ext cx="5349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WhatsApp Business API Broadcasts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18688" y="18928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P800/mo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25696" y="1892808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30-50 sign-ups/mo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551176"/>
            <a:ext cx="5349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551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Campus Activations (UB / BIUST / BCA)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18688" y="25511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P1,500/event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25696" y="2551176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50-80 sign-ups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209544"/>
            <a:ext cx="5349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209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Google Search Ads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18688" y="32095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P1,200/mo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25696" y="3209544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20-30 leads/mo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867912"/>
            <a:ext cx="53492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38679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BOCCIM / CEDA Trade Fairs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18688" y="38679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P1,500/qtr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25696" y="386791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SME pipeline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8932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GROWTH MILESTONES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89320" y="1234440"/>
            <a:ext cx="80467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5989320" y="123444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Q2 Y1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5800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Mobile app launch — iOS &amp; Android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89320" y="1965960"/>
            <a:ext cx="804672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8"/>
          <p:cNvSpPr/>
          <p:nvPr/>
        </p:nvSpPr>
        <p:spPr>
          <a:xfrm>
            <a:off x="5989320" y="196596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Month 4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5800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Break-even (~263 active subscribers)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989320" y="2697480"/>
            <a:ext cx="804672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1"/>
          <p:cNvSpPr/>
          <p:nvPr/>
        </p:nvSpPr>
        <p:spPr>
          <a:xfrm>
            <a:off x="5989320" y="269748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End Y1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858000" y="2697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1,200 subscribers  |  P1.14M revenue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89320" y="3429000"/>
            <a:ext cx="804672" cy="5486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7" name="Text 34"/>
          <p:cNvSpPr/>
          <p:nvPr/>
        </p:nvSpPr>
        <p:spPr>
          <a:xfrm>
            <a:off x="5989320" y="342900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Q3 Y2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858000" y="34290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Expand to Francistown &amp; Maun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989320" y="4160520"/>
            <a:ext cx="804672" cy="548640"/>
          </a:xfrm>
          <a:prstGeom prst="rect">
            <a:avLst/>
          </a:prstGeom>
          <a:solidFill>
            <a:srgbClr val="99F6E4"/>
          </a:solidFill>
          <a:ln/>
        </p:spPr>
      </p:sp>
      <p:sp>
        <p:nvSpPr>
          <p:cNvPr id="40" name="Text 37"/>
          <p:cNvSpPr/>
          <p:nvPr/>
        </p:nvSpPr>
        <p:spPr>
          <a:xfrm>
            <a:off x="5989320" y="416052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End Y3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858000" y="4160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10,000 subscribers  |  P14.4M/yr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Competitive Advantage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0040" y="10241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HOW WE COMPARE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25296"/>
          <a:ext cx="85039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554480"/>
                <a:gridCol w="1554480"/>
                <a:gridCol w="1554480"/>
                <a:gridCol w="15087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Device Shield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Alpha Direct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Repair Shops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AppleCare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Physical Repair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Theft &amp; Loss Cover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Cybersecurity / VPN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IT Support Included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Digital Claims (App/Web)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BWP Pricing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NBFIRA Compliant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Entry Price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P50/mo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P49/mo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Pay-per-repair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USD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Device Shield is the ONLY platform in Botswana combining physical protection + cybersecurity + IT support in ONE subscription.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606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6060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Highlights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78992"/>
            <a:ext cx="19202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P200K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Startup Funding Required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423160" y="1078992"/>
            <a:ext cx="19202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242316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Month 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42316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Projected Break-Even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26280" y="1078992"/>
            <a:ext cx="19202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P1.14M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2628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Year 1 Revenue Target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29400" y="1078992"/>
            <a:ext cx="19202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11247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P14.4M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2940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BF1"/>
                </a:solidFill>
              </a:rPr>
              <a:t>Year 3 Revenue Projection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2176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STARTUP COST BREAKDOWN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2359152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 Development (MVP — negotiated)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30168" y="2359152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P55,000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" y="2752344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Office Setup (equipment &amp; furniture)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30168" y="2752344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P18,000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20040" y="3145536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NBFIRA / Legal / Compliance Fees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30168" y="3145536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P12,000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" y="3538728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Launch Marketing Campaign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30168" y="3538728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P8,000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" y="3931920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Branding, Website &amp; Domain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30168" y="3931920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P5,000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4325112"/>
            <a:ext cx="33101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CIPA Registration &amp; Company Docs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30168" y="4325112"/>
            <a:ext cx="804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P2,500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0040" y="4773168"/>
            <a:ext cx="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47914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Total One-Time Costs:  P100,500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709160" y="21762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3-YEAR REVENUE PROJECTION</a:t>
            </a:r>
            <a:endParaRPr lang="en-US" sz="9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709160" y="2331720"/>
          <a:ext cx="4160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624" y="5029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" y="475488"/>
            <a:ext cx="7726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Join Us in Protecting Botswana's Digital Future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20624" y="1261872"/>
            <a:ext cx="4005072" cy="35844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" y="137160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CFBF1"/>
                </a:solidFill>
              </a:rPr>
              <a:t>INVESTMENT ASK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12064" y="1719072"/>
            <a:ext cx="3822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P200,000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03504" y="2487168"/>
            <a:ext cx="365760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2487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P150,000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00784" y="24871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CEDA Development Loan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" y="3054096"/>
            <a:ext cx="365760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30540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P50,000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00784" y="305409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Founder Equity Contribution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" y="382219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FBF1"/>
                </a:solidFill>
              </a:rPr>
              <a:t>Covers: App Dev  |  Legal  |  Office Setup  |  Marketing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36592" y="1261872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Our Vision by 2036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36592" y="1664208"/>
            <a:ext cx="4133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Botswana's most trusted provider of device protection and digital security — safeguarding every household, student, and SME nationwide.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268833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65776" y="268833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1,200 subscribers &amp; P1.14M revenue — end of Year 1</a:t>
            </a:r>
            <a:endParaRPr lang="en-US" sz="10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592" y="309981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09981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Expand nationally to Francistown &amp; Maun — Year 2</a:t>
            </a:r>
            <a:endParaRPr lang="en-US" sz="10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6592" y="351129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65776" y="351129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10,000 subscribers &amp; P14.4M revenue — Year 3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6592" y="3922776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65776" y="392277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ISO 27001 &amp; full NBFIRA certification — Year 2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36592" y="4389120"/>
            <a:ext cx="4133088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19"/>
          <p:cNvSpPr/>
          <p:nvPr/>
        </p:nvSpPr>
        <p:spPr>
          <a:xfrm>
            <a:off x="4736592" y="4389120"/>
            <a:ext cx="4133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Hexacore@org.co  |  +267 79 221 214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Plot 54351 Unit 4, Fairgrounds Office Park, Gaborone, Botswana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Shield - Investor Pitch Deck</dc:title>
  <dc:subject>PptxGenJS Presentation</dc:subject>
  <dc:creator>PptxGenJS</dc:creator>
  <cp:lastModifiedBy>PptxGenJS</cp:lastModifiedBy>
  <cp:revision>1</cp:revision>
  <dcterms:created xsi:type="dcterms:W3CDTF">2026-05-24T18:43:37Z</dcterms:created>
  <dcterms:modified xsi:type="dcterms:W3CDTF">2026-05-24T18:43:37Z</dcterms:modified>
</cp:coreProperties>
</file>